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0923863-E081-AA73-3546-CBEE6A220CB6}" name="Savarese, Giacomo" initials="GS" userId="S::giacomo.savarese@accenture.com::e08da33b-6ad6-442f-9650-e7fb109655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6AD"/>
    <a:srgbClr val="F4F1ED"/>
    <a:srgbClr val="B512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2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6AD"/>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88CBAD40-28D9-40F2-A947-A542CE1794A2}"/>
              </a:ext>
            </a:extLst>
          </p:cNvPr>
          <p:cNvSpPr>
            <a:spLocks noGrp="1"/>
          </p:cNvSpPr>
          <p:nvPr/>
        </p:nvSpPr>
        <p:spPr>
          <a:xfrm>
            <a:off x="0" y="0"/>
            <a:ext cx="171450" cy="6858000"/>
          </a:xfrm>
          <a:prstGeom prst="rect">
            <a:avLst/>
          </a:prstGeom>
          <a:solidFill>
            <a:schemeClr val="bg1"/>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303DB505-4D94-4220-AD08-81382A360F7F}"/>
              </a:ext>
            </a:extLst>
          </p:cNvPr>
          <p:cNvSpPr>
            <a:spLocks noGrp="1"/>
          </p:cNvSpPr>
          <p:nvPr/>
        </p:nvSpPr>
        <p:spPr>
          <a:xfrm>
            <a:off x="723900" y="876300"/>
            <a:ext cx="5715000" cy="266700"/>
          </a:xfrm>
          <a:prstGeom prst="rect">
            <a:avLst/>
          </a:prstGeom>
          <a:noFill/>
          <a:ln w="0">
            <a:noFill/>
            <a:prstDash val="solid"/>
          </a:ln>
        </p:spPr>
        <p:txBody>
          <a:bodyPr anchor="ctr"/>
          <a:lstStyle/>
          <a:p>
            <a:pPr algn="l">
              <a:defRPr sz="1050" b="1">
                <a:solidFill>
                  <a:srgbClr val="F0B7C0"/>
                </a:solidFill>
              </a:defRPr>
            </a:pPr>
            <a:r>
              <a:rPr lang="it-IT" sz="1100" b="1" noProof="0" dirty="0">
                <a:solidFill>
                  <a:schemeClr val="bg1"/>
                </a:solidFill>
              </a:rPr>
              <a:t>SURVEY ESPERIENZA STUDENTESCA</a:t>
            </a:r>
          </a:p>
        </p:txBody>
      </p:sp>
      <p:sp>
        <p:nvSpPr>
          <p:cNvPr id="3" name="Rettangolo 2">
            <a:extLst>
              <a:ext uri="{FF2B5EF4-FFF2-40B4-BE49-F238E27FC236}">
                <a16:creationId xmlns:a16="http://schemas.microsoft.com/office/drawing/2014/main" id="{160A9F11-7BC1-4D51-8CE1-2B0B7CD4202D}"/>
              </a:ext>
            </a:extLst>
          </p:cNvPr>
          <p:cNvSpPr>
            <a:spLocks noGrp="1"/>
          </p:cNvSpPr>
          <p:nvPr/>
        </p:nvSpPr>
        <p:spPr>
          <a:xfrm>
            <a:off x="723900" y="1409700"/>
            <a:ext cx="9715500" cy="1428750"/>
          </a:xfrm>
          <a:prstGeom prst="rect">
            <a:avLst/>
          </a:prstGeom>
          <a:noFill/>
          <a:ln w="0">
            <a:noFill/>
            <a:prstDash val="solid"/>
          </a:ln>
        </p:spPr>
        <p:txBody>
          <a:bodyPr anchor="ctr"/>
          <a:lstStyle/>
          <a:p>
            <a:pPr algn="l">
              <a:defRPr sz="4050" b="1">
                <a:solidFill>
                  <a:srgbClr val="FFFFFF"/>
                </a:solidFill>
              </a:defRPr>
            </a:pPr>
            <a:r>
              <a:rPr lang="it-IT" sz="4400" b="1" noProof="0" dirty="0">
                <a:solidFill>
                  <a:srgbClr val="FFFFFF"/>
                </a:solidFill>
              </a:rPr>
              <a:t>Traccia 2</a:t>
            </a:r>
          </a:p>
        </p:txBody>
      </p:sp>
      <p:sp>
        <p:nvSpPr>
          <p:cNvPr id="4" name="Rettangolo 3">
            <a:extLst>
              <a:ext uri="{FF2B5EF4-FFF2-40B4-BE49-F238E27FC236}">
                <a16:creationId xmlns:a16="http://schemas.microsoft.com/office/drawing/2014/main" id="{75E64D69-069A-4DD8-9B6D-6EF9D3DED25E}"/>
              </a:ext>
            </a:extLst>
          </p:cNvPr>
          <p:cNvSpPr>
            <a:spLocks noGrp="1"/>
          </p:cNvSpPr>
          <p:nvPr/>
        </p:nvSpPr>
        <p:spPr>
          <a:xfrm>
            <a:off x="762000" y="3067050"/>
            <a:ext cx="8382000" cy="552450"/>
          </a:xfrm>
          <a:prstGeom prst="rect">
            <a:avLst/>
          </a:prstGeom>
          <a:noFill/>
          <a:ln w="0">
            <a:noFill/>
            <a:prstDash val="solid"/>
          </a:ln>
        </p:spPr>
        <p:txBody>
          <a:bodyPr anchor="ctr"/>
          <a:lstStyle/>
          <a:p>
            <a:pPr algn="l">
              <a:defRPr sz="1650" b="0">
                <a:solidFill>
                  <a:srgbClr val="D8DFE8"/>
                </a:solidFill>
              </a:defRPr>
            </a:pPr>
            <a:r>
              <a:rPr lang="it-IT" b="0" noProof="0" dirty="0">
                <a:solidFill>
                  <a:srgbClr val="D8DFE8"/>
                </a:solidFill>
              </a:rPr>
              <a:t>Un’analisi integrata di benessere, appartenenza e carico di studio</a:t>
            </a:r>
          </a:p>
        </p:txBody>
      </p:sp>
      <p:sp>
        <p:nvSpPr>
          <p:cNvPr id="5" name="Rettangolo 4">
            <a:extLst>
              <a:ext uri="{FF2B5EF4-FFF2-40B4-BE49-F238E27FC236}">
                <a16:creationId xmlns:a16="http://schemas.microsoft.com/office/drawing/2014/main" id="{F8AC8B0F-8BAE-43F2-81FC-DEA3E67BAD07}"/>
              </a:ext>
            </a:extLst>
          </p:cNvPr>
          <p:cNvSpPr>
            <a:spLocks noGrp="1"/>
          </p:cNvSpPr>
          <p:nvPr/>
        </p:nvSpPr>
        <p:spPr>
          <a:xfrm>
            <a:off x="762000" y="4000500"/>
            <a:ext cx="9906000" cy="19050"/>
          </a:xfrm>
          <a:prstGeom prst="rect">
            <a:avLst/>
          </a:prstGeom>
          <a:solidFill>
            <a:srgbClr val="52647A"/>
          </a:solidFill>
          <a:ln w="0">
            <a:noFill/>
            <a:prstDash val="solid"/>
          </a:ln>
        </p:spPr>
        <p:txBody>
          <a:bodyPr/>
          <a:lstStyle/>
          <a:p>
            <a:endParaRPr lang="it-IT" noProof="0" dirty="0"/>
          </a:p>
        </p:txBody>
      </p:sp>
      <p:sp>
        <p:nvSpPr>
          <p:cNvPr id="6" name="Rettangolo 5">
            <a:extLst>
              <a:ext uri="{FF2B5EF4-FFF2-40B4-BE49-F238E27FC236}">
                <a16:creationId xmlns:a16="http://schemas.microsoft.com/office/drawing/2014/main" id="{BE20D2DD-851D-401D-9899-E96964DE7DA3}"/>
              </a:ext>
            </a:extLst>
          </p:cNvPr>
          <p:cNvSpPr>
            <a:spLocks noGrp="1"/>
          </p:cNvSpPr>
          <p:nvPr/>
        </p:nvSpPr>
        <p:spPr>
          <a:xfrm>
            <a:off x="762000" y="4333875"/>
            <a:ext cx="4762500" cy="323850"/>
          </a:xfrm>
          <a:prstGeom prst="rect">
            <a:avLst/>
          </a:prstGeom>
          <a:noFill/>
          <a:ln w="0">
            <a:noFill/>
            <a:prstDash val="solid"/>
          </a:ln>
        </p:spPr>
        <p:txBody>
          <a:bodyPr anchor="ctr"/>
          <a:lstStyle/>
          <a:p>
            <a:pPr algn="l">
              <a:defRPr sz="1350" b="1">
                <a:solidFill>
                  <a:srgbClr val="FFFFFF"/>
                </a:solidFill>
              </a:defRPr>
            </a:pPr>
            <a:r>
              <a:rPr lang="it-IT" sz="1350" b="1" noProof="0" dirty="0">
                <a:solidFill>
                  <a:srgbClr val="FFFFFF"/>
                </a:solidFill>
              </a:rPr>
              <a:t>Giacomo </a:t>
            </a:r>
            <a:r>
              <a:rPr lang="it-IT" sz="1400" b="1" noProof="0" dirty="0">
                <a:solidFill>
                  <a:srgbClr val="FFFFFF"/>
                </a:solidFill>
              </a:rPr>
              <a:t>Savarese</a:t>
            </a:r>
          </a:p>
        </p:txBody>
      </p:sp>
      <p:sp>
        <p:nvSpPr>
          <p:cNvPr id="7" name="Rettangolo 6">
            <a:extLst>
              <a:ext uri="{FF2B5EF4-FFF2-40B4-BE49-F238E27FC236}">
                <a16:creationId xmlns:a16="http://schemas.microsoft.com/office/drawing/2014/main" id="{C7BBE465-007F-4AB1-A1CC-06631816317E}"/>
              </a:ext>
            </a:extLst>
          </p:cNvPr>
          <p:cNvSpPr>
            <a:spLocks noGrp="1"/>
          </p:cNvSpPr>
          <p:nvPr/>
        </p:nvSpPr>
        <p:spPr>
          <a:xfrm>
            <a:off x="762000" y="4695825"/>
            <a:ext cx="4762500" cy="266700"/>
          </a:xfrm>
          <a:prstGeom prst="rect">
            <a:avLst/>
          </a:prstGeom>
          <a:noFill/>
          <a:ln w="0">
            <a:noFill/>
            <a:prstDash val="solid"/>
          </a:ln>
        </p:spPr>
        <p:txBody>
          <a:bodyPr anchor="ctr"/>
          <a:lstStyle/>
          <a:p>
            <a:pPr algn="l">
              <a:defRPr sz="1125" b="0">
                <a:solidFill>
                  <a:srgbClr val="B9C4D0"/>
                </a:solidFill>
              </a:defRPr>
            </a:pPr>
            <a:r>
              <a:rPr lang="it-IT" sz="1100" b="0" noProof="0" dirty="0" err="1">
                <a:solidFill>
                  <a:srgbClr val="B9C4D0"/>
                </a:solidFill>
              </a:rPr>
              <a:t>BuildUP</a:t>
            </a:r>
            <a:r>
              <a:rPr lang="it-IT" sz="1100" b="0" noProof="0" dirty="0">
                <a:solidFill>
                  <a:srgbClr val="B9C4D0"/>
                </a:solidFill>
              </a:rPr>
              <a:t> Graduate Program · 2026</a:t>
            </a:r>
          </a:p>
        </p:txBody>
      </p:sp>
    </p:spTree>
    <p:extLst>
      <p:ext uri="{BB962C8B-B14F-4D97-AF65-F5344CB8AC3E}">
        <p14:creationId xmlns:p14="http://schemas.microsoft.com/office/powerpoint/2010/main" val="432447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8" name="Gruppo 47">
            <a:extLst>
              <a:ext uri="{FF2B5EF4-FFF2-40B4-BE49-F238E27FC236}">
                <a16:creationId xmlns:a16="http://schemas.microsoft.com/office/drawing/2014/main" id="{0D3A76B7-FF0E-0A47-28AA-B2729F27D045}"/>
              </a:ext>
            </a:extLst>
          </p:cNvPr>
          <p:cNvGrpSpPr/>
          <p:nvPr/>
        </p:nvGrpSpPr>
        <p:grpSpPr>
          <a:xfrm>
            <a:off x="621505" y="1826924"/>
            <a:ext cx="2543175" cy="3433287"/>
            <a:chOff x="590550" y="2238375"/>
            <a:chExt cx="2190750" cy="2957513"/>
          </a:xfrm>
        </p:grpSpPr>
        <p:sp>
          <p:nvSpPr>
            <p:cNvPr id="28" name="Rettangolo con angoli arrotondati 27">
              <a:extLst>
                <a:ext uri="{FF2B5EF4-FFF2-40B4-BE49-F238E27FC236}">
                  <a16:creationId xmlns:a16="http://schemas.microsoft.com/office/drawing/2014/main" id="{37D16972-6773-F9B5-C84F-CD824311A76C}"/>
                </a:ext>
              </a:extLst>
            </p:cNvPr>
            <p:cNvSpPr/>
            <p:nvPr/>
          </p:nvSpPr>
          <p:spPr>
            <a:xfrm>
              <a:off x="590550" y="2247900"/>
              <a:ext cx="2190750" cy="2947988"/>
            </a:xfrm>
            <a:prstGeom prst="roundRect">
              <a:avLst>
                <a:gd name="adj" fmla="val 5363"/>
              </a:avLst>
            </a:prstGeom>
            <a:solidFill>
              <a:schemeClr val="bg1"/>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it-IT" sz="1400" noProof="0" dirty="0">
                <a:solidFill>
                  <a:schemeClr val="tx1"/>
                </a:solidFill>
              </a:endParaRPr>
            </a:p>
            <a:p>
              <a:endParaRPr lang="it-IT" sz="1400" noProof="0" dirty="0">
                <a:solidFill>
                  <a:schemeClr val="tx1"/>
                </a:solidFill>
              </a:endParaRPr>
            </a:p>
            <a:p>
              <a:r>
                <a:rPr lang="it-IT" sz="1400" noProof="0" dirty="0">
                  <a:solidFill>
                    <a:schemeClr val="tx1"/>
                  </a:solidFill>
                </a:rPr>
                <a:t>Il dataset contiene alcune problematiche da risolvere:</a:t>
              </a:r>
            </a:p>
            <a:p>
              <a:pPr marL="171450" indent="-171450">
                <a:buFont typeface="Arial" panose="020B0604020202020204" pitchFamily="34" charset="0"/>
                <a:buChar char="•"/>
              </a:pPr>
              <a:r>
                <a:rPr lang="it-IT" sz="1400" b="1" noProof="0" dirty="0">
                  <a:solidFill>
                    <a:srgbClr val="0046AD"/>
                  </a:solidFill>
                </a:rPr>
                <a:t>Dati mancanti</a:t>
              </a:r>
              <a:r>
                <a:rPr lang="it-IT" sz="1400" noProof="0" dirty="0">
                  <a:solidFill>
                    <a:schemeClr val="tx1"/>
                  </a:solidFill>
                </a:rPr>
                <a:t>: nello specifico, mantenuti in quanto sporadici e casuali</a:t>
              </a:r>
            </a:p>
            <a:p>
              <a:pPr marL="171450" indent="-171450">
                <a:buFont typeface="Arial" panose="020B0604020202020204" pitchFamily="34" charset="0"/>
                <a:buChar char="•"/>
              </a:pPr>
              <a:r>
                <a:rPr lang="it-IT" sz="1400" b="1" noProof="0" dirty="0">
                  <a:solidFill>
                    <a:srgbClr val="0046AD"/>
                  </a:solidFill>
                </a:rPr>
                <a:t>Dati da standardizzare</a:t>
              </a:r>
              <a:r>
                <a:rPr lang="it-IT" sz="1400" noProof="0" dirty="0">
                  <a:solidFill>
                    <a:schemeClr val="tx1"/>
                  </a:solidFill>
                </a:rPr>
                <a:t>: per esempio “Yes”, “si” e “Sì” </a:t>
              </a:r>
            </a:p>
            <a:p>
              <a:pPr marL="171450" indent="-171450">
                <a:buFont typeface="Arial" panose="020B0604020202020204" pitchFamily="34" charset="0"/>
                <a:buChar char="•"/>
              </a:pPr>
              <a:r>
                <a:rPr lang="it-IT" sz="1400" b="1" noProof="0" dirty="0">
                  <a:solidFill>
                    <a:srgbClr val="0046AD"/>
                  </a:solidFill>
                </a:rPr>
                <a:t>Dati da trasformare</a:t>
              </a:r>
              <a:r>
                <a:rPr lang="it-IT" sz="1400" noProof="0" dirty="0">
                  <a:solidFill>
                    <a:schemeClr val="tx1"/>
                  </a:solidFill>
                </a:rPr>
                <a:t>: come usare Il logaritmo per normalizzare la distanza </a:t>
              </a:r>
            </a:p>
          </p:txBody>
        </p:sp>
        <p:sp>
          <p:nvSpPr>
            <p:cNvPr id="29" name="Rettangolo con angoli arrotondati 28">
              <a:extLst>
                <a:ext uri="{FF2B5EF4-FFF2-40B4-BE49-F238E27FC236}">
                  <a16:creationId xmlns:a16="http://schemas.microsoft.com/office/drawing/2014/main" id="{43285C97-F5EC-51FC-AF0F-D3D8FF982258}"/>
                </a:ext>
              </a:extLst>
            </p:cNvPr>
            <p:cNvSpPr/>
            <p:nvPr/>
          </p:nvSpPr>
          <p:spPr>
            <a:xfrm>
              <a:off x="590550" y="2238375"/>
              <a:ext cx="2190750" cy="638175"/>
            </a:xfrm>
            <a:prstGeom prst="roundRect">
              <a:avLst/>
            </a:prstGeom>
            <a:solidFill>
              <a:srgbClr val="0046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noProof="0" dirty="0">
                  <a:solidFill>
                    <a:schemeClr val="bg1"/>
                  </a:solidFill>
                </a:rPr>
                <a:t>Verifica e pulizia</a:t>
              </a:r>
            </a:p>
          </p:txBody>
        </p:sp>
      </p:grpSp>
      <p:sp>
        <p:nvSpPr>
          <p:cNvPr id="26" name="Rettangolo 25">
            <a:extLst>
              <a:ext uri="{FF2B5EF4-FFF2-40B4-BE49-F238E27FC236}">
                <a16:creationId xmlns:a16="http://schemas.microsoft.com/office/drawing/2014/main" id="{6B8261A4-7192-4E4E-A0D1-7CD82F0D4167}"/>
              </a:ext>
            </a:extLst>
          </p:cNvPr>
          <p:cNvSpPr>
            <a:spLocks noGrp="1"/>
          </p:cNvSpPr>
          <p:nvPr/>
        </p:nvSpPr>
        <p:spPr>
          <a:xfrm>
            <a:off x="0" y="0"/>
            <a:ext cx="142875" cy="6858000"/>
          </a:xfrm>
          <a:prstGeom prst="rect">
            <a:avLst/>
          </a:prstGeom>
          <a:solidFill>
            <a:srgbClr val="0046AD"/>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A96BB46A-6B39-4A47-B4FD-F0513D0E3A41}"/>
              </a:ext>
            </a:extLst>
          </p:cNvPr>
          <p:cNvSpPr>
            <a:spLocks noGrp="1"/>
          </p:cNvSpPr>
          <p:nvPr/>
        </p:nvSpPr>
        <p:spPr>
          <a:xfrm>
            <a:off x="552450" y="304800"/>
            <a:ext cx="5715000" cy="228600"/>
          </a:xfrm>
          <a:prstGeom prst="rect">
            <a:avLst/>
          </a:prstGeom>
          <a:noFill/>
          <a:ln w="0">
            <a:noFill/>
            <a:prstDash val="solid"/>
          </a:ln>
        </p:spPr>
        <p:txBody>
          <a:bodyPr anchor="ctr"/>
          <a:lstStyle/>
          <a:p>
            <a:pPr algn="l">
              <a:defRPr sz="975" b="1">
                <a:solidFill>
                  <a:srgbClr val="B5122B"/>
                </a:solidFill>
              </a:defRPr>
            </a:pPr>
            <a:r>
              <a:rPr lang="it-IT" sz="1100" b="1" noProof="0" dirty="0">
                <a:solidFill>
                  <a:srgbClr val="0046AD"/>
                </a:solidFill>
              </a:rPr>
              <a:t>APPROCCIO</a:t>
            </a:r>
          </a:p>
        </p:txBody>
      </p:sp>
      <p:sp>
        <p:nvSpPr>
          <p:cNvPr id="3" name="Rettangolo 2">
            <a:extLst>
              <a:ext uri="{FF2B5EF4-FFF2-40B4-BE49-F238E27FC236}">
                <a16:creationId xmlns:a16="http://schemas.microsoft.com/office/drawing/2014/main" id="{024B8F3C-43D1-4E93-82C9-7A302E84BE0C}"/>
              </a:ext>
            </a:extLst>
          </p:cNvPr>
          <p:cNvSpPr>
            <a:spLocks noGrp="1"/>
          </p:cNvSpPr>
          <p:nvPr/>
        </p:nvSpPr>
        <p:spPr>
          <a:xfrm>
            <a:off x="552450" y="533400"/>
            <a:ext cx="10906125" cy="685800"/>
          </a:xfrm>
          <a:prstGeom prst="rect">
            <a:avLst/>
          </a:prstGeom>
          <a:noFill/>
          <a:ln w="0">
            <a:noFill/>
            <a:prstDash val="solid"/>
          </a:ln>
        </p:spPr>
        <p:txBody>
          <a:bodyPr anchor="ctr"/>
          <a:lstStyle/>
          <a:p>
            <a:pPr algn="l">
              <a:defRPr sz="2550" b="1">
                <a:solidFill>
                  <a:srgbClr val="10243E"/>
                </a:solidFill>
              </a:defRPr>
            </a:pPr>
            <a:r>
              <a:rPr lang="it-IT" sz="2550" b="1" noProof="0" dirty="0">
                <a:solidFill>
                  <a:srgbClr val="10243E"/>
                </a:solidFill>
              </a:rPr>
              <a:t>Analisi quantitativa: il punto di inizio</a:t>
            </a:r>
          </a:p>
        </p:txBody>
      </p:sp>
      <p:sp>
        <p:nvSpPr>
          <p:cNvPr id="5" name="Rettangolo 4">
            <a:extLst>
              <a:ext uri="{FF2B5EF4-FFF2-40B4-BE49-F238E27FC236}">
                <a16:creationId xmlns:a16="http://schemas.microsoft.com/office/drawing/2014/main" id="{3889A248-E2CA-401C-9022-924D7675D91D}"/>
              </a:ext>
            </a:extLst>
          </p:cNvPr>
          <p:cNvSpPr>
            <a:spLocks noGrp="1"/>
          </p:cNvSpPr>
          <p:nvPr/>
        </p:nvSpPr>
        <p:spPr>
          <a:xfrm>
            <a:off x="11001375" y="6391275"/>
            <a:ext cx="457200" cy="171450"/>
          </a:xfrm>
          <a:prstGeom prst="rect">
            <a:avLst/>
          </a:prstGeom>
          <a:noFill/>
          <a:ln w="0">
            <a:noFill/>
            <a:prstDash val="solid"/>
          </a:ln>
        </p:spPr>
        <p:txBody>
          <a:bodyPr anchor="ctr"/>
          <a:lstStyle/>
          <a:p>
            <a:pPr algn="r">
              <a:defRPr sz="900" b="1">
                <a:solidFill>
                  <a:srgbClr val="66717F"/>
                </a:solidFill>
              </a:defRPr>
            </a:pPr>
            <a:r>
              <a:rPr lang="it-IT" sz="900" b="1" noProof="0" dirty="0">
                <a:solidFill>
                  <a:srgbClr val="66717F"/>
                </a:solidFill>
              </a:rPr>
              <a:t>01</a:t>
            </a:r>
          </a:p>
        </p:txBody>
      </p:sp>
      <p:sp>
        <p:nvSpPr>
          <p:cNvPr id="10" name="Rettangolo 9">
            <a:extLst>
              <a:ext uri="{FF2B5EF4-FFF2-40B4-BE49-F238E27FC236}">
                <a16:creationId xmlns:a16="http://schemas.microsoft.com/office/drawing/2014/main" id="{325B5CD1-4D3F-4C1F-9DB6-8396C228CDE0}"/>
              </a:ext>
            </a:extLst>
          </p:cNvPr>
          <p:cNvSpPr>
            <a:spLocks noGrp="1"/>
          </p:cNvSpPr>
          <p:nvPr/>
        </p:nvSpPr>
        <p:spPr>
          <a:xfrm>
            <a:off x="552450" y="2819400"/>
            <a:ext cx="2085975" cy="2376488"/>
          </a:xfrm>
          <a:prstGeom prst="rect">
            <a:avLst/>
          </a:prstGeom>
          <a:noFill/>
          <a:ln w="0">
            <a:noFill/>
            <a:prstDash val="solid"/>
          </a:ln>
        </p:spPr>
        <p:txBody>
          <a:bodyPr anchor="ctr"/>
          <a:lstStyle/>
          <a:p>
            <a:pPr algn="l">
              <a:defRPr sz="1200" b="0">
                <a:solidFill>
                  <a:srgbClr val="66717F"/>
                </a:solidFill>
              </a:defRPr>
            </a:pPr>
            <a:endParaRPr lang="it-IT" sz="1200" b="0" noProof="0" dirty="0">
              <a:solidFill>
                <a:srgbClr val="66717F"/>
              </a:solidFill>
            </a:endParaRPr>
          </a:p>
        </p:txBody>
      </p:sp>
      <p:sp>
        <p:nvSpPr>
          <p:cNvPr id="24" name="Rettangolo 23">
            <a:extLst>
              <a:ext uri="{FF2B5EF4-FFF2-40B4-BE49-F238E27FC236}">
                <a16:creationId xmlns:a16="http://schemas.microsoft.com/office/drawing/2014/main" id="{28E54985-D472-46F8-97EA-770CA768F5E0}"/>
              </a:ext>
            </a:extLst>
          </p:cNvPr>
          <p:cNvSpPr>
            <a:spLocks noGrp="1"/>
          </p:cNvSpPr>
          <p:nvPr/>
        </p:nvSpPr>
        <p:spPr>
          <a:xfrm>
            <a:off x="595642" y="5506641"/>
            <a:ext cx="2433308" cy="550069"/>
          </a:xfrm>
          <a:prstGeom prst="rect">
            <a:avLst/>
          </a:prstGeom>
          <a:noFill/>
          <a:ln w="0">
            <a:noFill/>
            <a:prstDash val="solid"/>
          </a:ln>
        </p:spPr>
        <p:txBody>
          <a:bodyPr anchor="ctr"/>
          <a:lstStyle/>
          <a:p>
            <a:pPr algn="l">
              <a:defRPr sz="1125" b="1">
                <a:solidFill>
                  <a:srgbClr val="B5122B"/>
                </a:solidFill>
              </a:defRPr>
            </a:pPr>
            <a:r>
              <a:rPr lang="it-IT" sz="2000" noProof="0" dirty="0">
                <a:solidFill>
                  <a:srgbClr val="0046AD"/>
                </a:solidFill>
              </a:rPr>
              <a:t>Principio guida:</a:t>
            </a:r>
          </a:p>
        </p:txBody>
      </p:sp>
      <p:sp>
        <p:nvSpPr>
          <p:cNvPr id="30" name="CasellaDiTesto 29">
            <a:extLst>
              <a:ext uri="{FF2B5EF4-FFF2-40B4-BE49-F238E27FC236}">
                <a16:creationId xmlns:a16="http://schemas.microsoft.com/office/drawing/2014/main" id="{112324CD-F04C-164F-E109-23F7275D412B}"/>
              </a:ext>
            </a:extLst>
          </p:cNvPr>
          <p:cNvSpPr txBox="1"/>
          <p:nvPr/>
        </p:nvSpPr>
        <p:spPr>
          <a:xfrm>
            <a:off x="533400" y="1104900"/>
            <a:ext cx="11106150" cy="523220"/>
          </a:xfrm>
          <a:prstGeom prst="rect">
            <a:avLst/>
          </a:prstGeom>
          <a:noFill/>
        </p:spPr>
        <p:txBody>
          <a:bodyPr wrap="square" rtlCol="0">
            <a:spAutoFit/>
          </a:bodyPr>
          <a:lstStyle/>
          <a:p>
            <a:r>
              <a:rPr lang="it-IT" sz="1400" noProof="0" dirty="0"/>
              <a:t>Il dataset contiene 1075 risposte ad un questionario e 24 variabili. Il primo step dell’analisi consiste nella pulizia dei dati e nell’esplorazione di essi per trovare gli elementi che possono creare insights</a:t>
            </a:r>
          </a:p>
        </p:txBody>
      </p:sp>
      <p:grpSp>
        <p:nvGrpSpPr>
          <p:cNvPr id="35" name="Gruppo 34">
            <a:extLst>
              <a:ext uri="{FF2B5EF4-FFF2-40B4-BE49-F238E27FC236}">
                <a16:creationId xmlns:a16="http://schemas.microsoft.com/office/drawing/2014/main" id="{A8BA821F-15A8-D4EC-F206-4E56C7CCDBE9}"/>
              </a:ext>
            </a:extLst>
          </p:cNvPr>
          <p:cNvGrpSpPr/>
          <p:nvPr/>
        </p:nvGrpSpPr>
        <p:grpSpPr>
          <a:xfrm>
            <a:off x="3365499" y="1819779"/>
            <a:ext cx="2543175" cy="3433287"/>
            <a:chOff x="3448050" y="2231230"/>
            <a:chExt cx="2190750" cy="2957513"/>
          </a:xfrm>
        </p:grpSpPr>
        <p:sp>
          <p:nvSpPr>
            <p:cNvPr id="33" name="Rettangolo con angoli arrotondati 32">
              <a:extLst>
                <a:ext uri="{FF2B5EF4-FFF2-40B4-BE49-F238E27FC236}">
                  <a16:creationId xmlns:a16="http://schemas.microsoft.com/office/drawing/2014/main" id="{6C940270-6971-70A6-1647-23506181A381}"/>
                </a:ext>
              </a:extLst>
            </p:cNvPr>
            <p:cNvSpPr/>
            <p:nvPr/>
          </p:nvSpPr>
          <p:spPr>
            <a:xfrm>
              <a:off x="3448050" y="2240755"/>
              <a:ext cx="2190750" cy="2947988"/>
            </a:xfrm>
            <a:prstGeom prst="roundRect">
              <a:avLst>
                <a:gd name="adj" fmla="val 5363"/>
              </a:avLst>
            </a:prstGeom>
            <a:solidFill>
              <a:schemeClr val="bg1"/>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it-IT" sz="1400" b="1" noProof="0" dirty="0">
                <a:solidFill>
                  <a:srgbClr val="0046AD"/>
                </a:solidFill>
              </a:endParaRPr>
            </a:p>
            <a:p>
              <a:pPr marL="171450" indent="-171450">
                <a:buFont typeface="Arial" panose="020B0604020202020204" pitchFamily="34" charset="0"/>
                <a:buChar char="•"/>
              </a:pPr>
              <a:endParaRPr lang="it-IT" sz="1400" b="1" noProof="0" dirty="0">
                <a:solidFill>
                  <a:srgbClr val="0046AD"/>
                </a:solidFill>
              </a:endParaRPr>
            </a:p>
            <a:p>
              <a:pPr marL="171450" indent="-171450">
                <a:buFont typeface="Arial" panose="020B0604020202020204" pitchFamily="34" charset="0"/>
                <a:buChar char="•"/>
              </a:pPr>
              <a:r>
                <a:rPr lang="it-IT" sz="1400" b="1" noProof="0" dirty="0">
                  <a:solidFill>
                    <a:srgbClr val="0046AD"/>
                  </a:solidFill>
                </a:rPr>
                <a:t>Esplorazione iniziale del dataset </a:t>
              </a:r>
              <a:r>
                <a:rPr lang="it-IT" sz="1400" noProof="0" dirty="0">
                  <a:solidFill>
                    <a:schemeClr val="tx1"/>
                  </a:solidFill>
                </a:rPr>
                <a:t>per comprenderne le dinamiche general, usando meda, mediana, e box plot.</a:t>
              </a:r>
            </a:p>
            <a:p>
              <a:pPr marL="171450" indent="-171450">
                <a:buFont typeface="Arial" panose="020B0604020202020204" pitchFamily="34" charset="0"/>
                <a:buChar char="•"/>
              </a:pPr>
              <a:r>
                <a:rPr lang="it-IT" sz="1400" b="1" noProof="0" dirty="0">
                  <a:solidFill>
                    <a:srgbClr val="0046AD"/>
                  </a:solidFill>
                </a:rPr>
                <a:t>Creazione di variabili aggiuntive </a:t>
              </a:r>
              <a:r>
                <a:rPr lang="it-IT" sz="1400" noProof="0" dirty="0">
                  <a:solidFill>
                    <a:schemeClr val="tx1"/>
                  </a:solidFill>
                </a:rPr>
                <a:t>e più esplicative, ad esempio per distinguere I corsi magistrali da quelli triennali</a:t>
              </a:r>
            </a:p>
          </p:txBody>
        </p:sp>
        <p:sp>
          <p:nvSpPr>
            <p:cNvPr id="34" name="Rettangolo con angoli arrotondati 33">
              <a:extLst>
                <a:ext uri="{FF2B5EF4-FFF2-40B4-BE49-F238E27FC236}">
                  <a16:creationId xmlns:a16="http://schemas.microsoft.com/office/drawing/2014/main" id="{B3F16746-7776-C1A8-E6F5-192F5ACD3DCB}"/>
                </a:ext>
              </a:extLst>
            </p:cNvPr>
            <p:cNvSpPr/>
            <p:nvPr/>
          </p:nvSpPr>
          <p:spPr>
            <a:xfrm>
              <a:off x="3448050" y="2231230"/>
              <a:ext cx="2190750" cy="638175"/>
            </a:xfrm>
            <a:prstGeom prst="roundRect">
              <a:avLst/>
            </a:prstGeom>
            <a:solidFill>
              <a:srgbClr val="0046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noProof="0" dirty="0"/>
                <a:t>Capire il quadro complessivo</a:t>
              </a:r>
            </a:p>
          </p:txBody>
        </p:sp>
      </p:grpSp>
      <p:grpSp>
        <p:nvGrpSpPr>
          <p:cNvPr id="36" name="Gruppo 35">
            <a:extLst>
              <a:ext uri="{FF2B5EF4-FFF2-40B4-BE49-F238E27FC236}">
                <a16:creationId xmlns:a16="http://schemas.microsoft.com/office/drawing/2014/main" id="{96B82FF5-A7EA-6DA5-FEC2-FE0DA7ADC413}"/>
              </a:ext>
            </a:extLst>
          </p:cNvPr>
          <p:cNvGrpSpPr/>
          <p:nvPr/>
        </p:nvGrpSpPr>
        <p:grpSpPr>
          <a:xfrm>
            <a:off x="6109493" y="1819779"/>
            <a:ext cx="2543175" cy="3433287"/>
            <a:chOff x="3448050" y="2231230"/>
            <a:chExt cx="2190750" cy="2957513"/>
          </a:xfrm>
        </p:grpSpPr>
        <p:sp>
          <p:nvSpPr>
            <p:cNvPr id="37" name="Rettangolo con angoli arrotondati 36">
              <a:extLst>
                <a:ext uri="{FF2B5EF4-FFF2-40B4-BE49-F238E27FC236}">
                  <a16:creationId xmlns:a16="http://schemas.microsoft.com/office/drawing/2014/main" id="{EB07EEB8-2A73-1B50-834A-128847E994F2}"/>
                </a:ext>
              </a:extLst>
            </p:cNvPr>
            <p:cNvSpPr/>
            <p:nvPr/>
          </p:nvSpPr>
          <p:spPr>
            <a:xfrm>
              <a:off x="3448050" y="2240755"/>
              <a:ext cx="2190750" cy="2947988"/>
            </a:xfrm>
            <a:prstGeom prst="roundRect">
              <a:avLst>
                <a:gd name="adj" fmla="val 5363"/>
              </a:avLst>
            </a:prstGeom>
            <a:solidFill>
              <a:schemeClr val="bg1"/>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it-IT" sz="1400" b="1" noProof="0" dirty="0">
                <a:solidFill>
                  <a:srgbClr val="0046AD"/>
                </a:solidFill>
              </a:endParaRPr>
            </a:p>
            <a:p>
              <a:pPr marL="171450" indent="-171450">
                <a:buFont typeface="Arial" panose="020B0604020202020204" pitchFamily="34" charset="0"/>
                <a:buChar char="•"/>
              </a:pPr>
              <a:endParaRPr lang="it-IT" sz="1400" b="1" noProof="0" dirty="0">
                <a:solidFill>
                  <a:srgbClr val="0046AD"/>
                </a:solidFill>
              </a:endParaRPr>
            </a:p>
            <a:p>
              <a:pPr marL="171450" indent="-171450">
                <a:buFont typeface="Arial" panose="020B0604020202020204" pitchFamily="34" charset="0"/>
                <a:buChar char="•"/>
              </a:pPr>
              <a:r>
                <a:rPr lang="it-IT" sz="1400" b="1" noProof="0" dirty="0">
                  <a:solidFill>
                    <a:srgbClr val="0046AD"/>
                  </a:solidFill>
                </a:rPr>
                <a:t>Inizio delle esplorazioni delle relazioni tra variabili</a:t>
              </a:r>
              <a:r>
                <a:rPr lang="it-IT" sz="1400" noProof="0" dirty="0">
                  <a:solidFill>
                    <a:schemeClr val="tx1"/>
                  </a:solidFill>
                </a:rPr>
                <a:t>, identificando una lista di associazioni utili per sviluppare nei modelli</a:t>
              </a:r>
            </a:p>
            <a:p>
              <a:pPr marL="171450" indent="-171450">
                <a:buFont typeface="Arial" panose="020B0604020202020204" pitchFamily="34" charset="0"/>
                <a:buChar char="•"/>
              </a:pPr>
              <a:r>
                <a:rPr lang="it-IT" sz="1400" b="1" noProof="0" dirty="0">
                  <a:solidFill>
                    <a:srgbClr val="0046AD"/>
                  </a:solidFill>
                </a:rPr>
                <a:t>Regressioni lineari multiple </a:t>
              </a:r>
              <a:r>
                <a:rPr lang="it-IT" sz="1400" noProof="0" dirty="0">
                  <a:solidFill>
                    <a:schemeClr val="tx1"/>
                  </a:solidFill>
                </a:rPr>
                <a:t>per capire la correlazione tra le variabili principali e le risposte al questionario tenendo il resto costante </a:t>
              </a:r>
            </a:p>
          </p:txBody>
        </p:sp>
        <p:sp>
          <p:nvSpPr>
            <p:cNvPr id="38" name="Rettangolo con angoli arrotondati 37">
              <a:extLst>
                <a:ext uri="{FF2B5EF4-FFF2-40B4-BE49-F238E27FC236}">
                  <a16:creationId xmlns:a16="http://schemas.microsoft.com/office/drawing/2014/main" id="{ADA0A988-B27B-C71C-05F1-DC77BB259C62}"/>
                </a:ext>
              </a:extLst>
            </p:cNvPr>
            <p:cNvSpPr/>
            <p:nvPr/>
          </p:nvSpPr>
          <p:spPr>
            <a:xfrm>
              <a:off x="3448050" y="2231230"/>
              <a:ext cx="2190750" cy="638175"/>
            </a:xfrm>
            <a:prstGeom prst="roundRect">
              <a:avLst/>
            </a:prstGeom>
            <a:solidFill>
              <a:srgbClr val="0046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noProof="0" dirty="0"/>
                <a:t>Analisi delle correlazioni</a:t>
              </a:r>
            </a:p>
          </p:txBody>
        </p:sp>
      </p:grpSp>
      <p:grpSp>
        <p:nvGrpSpPr>
          <p:cNvPr id="45" name="Gruppo 44">
            <a:extLst>
              <a:ext uri="{FF2B5EF4-FFF2-40B4-BE49-F238E27FC236}">
                <a16:creationId xmlns:a16="http://schemas.microsoft.com/office/drawing/2014/main" id="{004361C3-A1B7-E7D6-A205-50EA055DFD03}"/>
              </a:ext>
            </a:extLst>
          </p:cNvPr>
          <p:cNvGrpSpPr/>
          <p:nvPr/>
        </p:nvGrpSpPr>
        <p:grpSpPr>
          <a:xfrm>
            <a:off x="8853487" y="1819779"/>
            <a:ext cx="2543175" cy="3433287"/>
            <a:chOff x="3448050" y="2231230"/>
            <a:chExt cx="2190750" cy="2957513"/>
          </a:xfrm>
        </p:grpSpPr>
        <p:sp>
          <p:nvSpPr>
            <p:cNvPr id="46" name="Rettangolo con angoli arrotondati 45">
              <a:extLst>
                <a:ext uri="{FF2B5EF4-FFF2-40B4-BE49-F238E27FC236}">
                  <a16:creationId xmlns:a16="http://schemas.microsoft.com/office/drawing/2014/main" id="{BD18E017-0AB1-CF44-51B3-2CF9312035B4}"/>
                </a:ext>
              </a:extLst>
            </p:cNvPr>
            <p:cNvSpPr/>
            <p:nvPr/>
          </p:nvSpPr>
          <p:spPr>
            <a:xfrm>
              <a:off x="3448050" y="2240755"/>
              <a:ext cx="2190750" cy="2947988"/>
            </a:xfrm>
            <a:prstGeom prst="roundRect">
              <a:avLst>
                <a:gd name="adj" fmla="val 5363"/>
              </a:avLst>
            </a:prstGeom>
            <a:solidFill>
              <a:schemeClr val="bg1"/>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lIns="90000" tIns="0" bIns="360000" rtlCol="0" anchor="ctr" anchorCtr="0"/>
            <a:lstStyle/>
            <a:p>
              <a:pPr marL="171450" indent="-171450">
                <a:buFont typeface="Arial" panose="020B0604020202020204" pitchFamily="34" charset="0"/>
                <a:buChar char="•"/>
              </a:pPr>
              <a:r>
                <a:rPr lang="it-IT" sz="1400" b="1" noProof="0" dirty="0">
                  <a:solidFill>
                    <a:srgbClr val="0046AD"/>
                  </a:solidFill>
                </a:rPr>
                <a:t>Unione con il dataset con le risposte aperte </a:t>
              </a:r>
              <a:r>
                <a:rPr lang="it-IT" sz="1400" noProof="0" dirty="0">
                  <a:solidFill>
                    <a:schemeClr val="tx1"/>
                  </a:solidFill>
                </a:rPr>
                <a:t>usando gli ID ed analisi tematica deduttiva</a:t>
              </a:r>
            </a:p>
            <a:p>
              <a:pPr marL="171450" indent="-171450">
                <a:buFont typeface="Arial" panose="020B0604020202020204" pitchFamily="34" charset="0"/>
                <a:buChar char="•"/>
              </a:pPr>
              <a:r>
                <a:rPr lang="it-IT" sz="1400" b="1" noProof="0" dirty="0">
                  <a:solidFill>
                    <a:srgbClr val="0046AD"/>
                  </a:solidFill>
                </a:rPr>
                <a:t>Integrazione degli insight qualitativi </a:t>
              </a:r>
              <a:r>
                <a:rPr lang="it-IT" sz="1400" noProof="0" dirty="0">
                  <a:solidFill>
                    <a:schemeClr val="tx1"/>
                  </a:solidFill>
                </a:rPr>
                <a:t>a supporto delle correlazioni statistiche</a:t>
              </a:r>
            </a:p>
          </p:txBody>
        </p:sp>
        <p:sp>
          <p:nvSpPr>
            <p:cNvPr id="47" name="Rettangolo con angoli arrotondati 46">
              <a:extLst>
                <a:ext uri="{FF2B5EF4-FFF2-40B4-BE49-F238E27FC236}">
                  <a16:creationId xmlns:a16="http://schemas.microsoft.com/office/drawing/2014/main" id="{AA15BD34-EDA7-83DC-AB48-20E458694553}"/>
                </a:ext>
              </a:extLst>
            </p:cNvPr>
            <p:cNvSpPr/>
            <p:nvPr/>
          </p:nvSpPr>
          <p:spPr>
            <a:xfrm>
              <a:off x="3448050" y="2231230"/>
              <a:ext cx="2190750" cy="638175"/>
            </a:xfrm>
            <a:prstGeom prst="roundRect">
              <a:avLst/>
            </a:prstGeom>
            <a:solidFill>
              <a:srgbClr val="0046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noProof="0" dirty="0"/>
                <a:t>Dare ai numeri un significato</a:t>
              </a:r>
            </a:p>
          </p:txBody>
        </p:sp>
      </p:grpSp>
      <p:sp>
        <p:nvSpPr>
          <p:cNvPr id="49" name="CasellaDiTesto 48">
            <a:extLst>
              <a:ext uri="{FF2B5EF4-FFF2-40B4-BE49-F238E27FC236}">
                <a16:creationId xmlns:a16="http://schemas.microsoft.com/office/drawing/2014/main" id="{3FFBC54D-2091-3C75-22DE-74E14855F199}"/>
              </a:ext>
            </a:extLst>
          </p:cNvPr>
          <p:cNvSpPr txBox="1"/>
          <p:nvPr/>
        </p:nvSpPr>
        <p:spPr>
          <a:xfrm>
            <a:off x="2347775" y="5622548"/>
            <a:ext cx="7523436" cy="369332"/>
          </a:xfrm>
          <a:prstGeom prst="rect">
            <a:avLst/>
          </a:prstGeom>
          <a:noFill/>
        </p:spPr>
        <p:txBody>
          <a:bodyPr wrap="square" rtlCol="0">
            <a:spAutoFit/>
          </a:bodyPr>
          <a:lstStyle/>
          <a:p>
            <a:r>
              <a:rPr lang="it-IT" b="1" noProof="0" dirty="0"/>
              <a:t>Costruire gli insights su variabili via via più ristrette ma più rilevanti </a:t>
            </a:r>
          </a:p>
        </p:txBody>
      </p:sp>
    </p:spTree>
    <p:extLst>
      <p:ext uri="{BB962C8B-B14F-4D97-AF65-F5344CB8AC3E}">
        <p14:creationId xmlns:p14="http://schemas.microsoft.com/office/powerpoint/2010/main" val="616901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Rettangolo 36">
            <a:extLst>
              <a:ext uri="{FF2B5EF4-FFF2-40B4-BE49-F238E27FC236}">
                <a16:creationId xmlns:a16="http://schemas.microsoft.com/office/drawing/2014/main" id="{41E53736-03CF-1872-AC42-8B8DE4F61F07}"/>
              </a:ext>
            </a:extLst>
          </p:cNvPr>
          <p:cNvSpPr/>
          <p:nvPr/>
        </p:nvSpPr>
        <p:spPr>
          <a:xfrm>
            <a:off x="6915150" y="3429000"/>
            <a:ext cx="4133850" cy="2529840"/>
          </a:xfrm>
          <a:prstGeom prst="rect">
            <a:avLst/>
          </a:prstGeom>
          <a:solidFill>
            <a:srgbClr val="F4F1ED"/>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dirty="0"/>
          </a:p>
        </p:txBody>
      </p:sp>
      <p:sp>
        <p:nvSpPr>
          <p:cNvPr id="25" name="Rettangolo 24">
            <a:extLst>
              <a:ext uri="{FF2B5EF4-FFF2-40B4-BE49-F238E27FC236}">
                <a16:creationId xmlns:a16="http://schemas.microsoft.com/office/drawing/2014/main" id="{BF409C2D-FE93-4EC5-9D62-F67E9D44ECAB}"/>
              </a:ext>
            </a:extLst>
          </p:cNvPr>
          <p:cNvSpPr>
            <a:spLocks noGrp="1"/>
          </p:cNvSpPr>
          <p:nvPr/>
        </p:nvSpPr>
        <p:spPr>
          <a:xfrm>
            <a:off x="0" y="0"/>
            <a:ext cx="142875" cy="6858000"/>
          </a:xfrm>
          <a:prstGeom prst="rect">
            <a:avLst/>
          </a:prstGeom>
          <a:solidFill>
            <a:srgbClr val="0046AD"/>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E895E328-ECB1-4B4C-8292-BDBF6A54F6A8}"/>
              </a:ext>
            </a:extLst>
          </p:cNvPr>
          <p:cNvSpPr>
            <a:spLocks noGrp="1"/>
          </p:cNvSpPr>
          <p:nvPr/>
        </p:nvSpPr>
        <p:spPr>
          <a:xfrm>
            <a:off x="552450" y="304800"/>
            <a:ext cx="5715000" cy="228600"/>
          </a:xfrm>
          <a:prstGeom prst="rect">
            <a:avLst/>
          </a:prstGeom>
          <a:noFill/>
          <a:ln w="0">
            <a:noFill/>
            <a:prstDash val="solid"/>
          </a:ln>
        </p:spPr>
        <p:txBody>
          <a:bodyPr anchor="ctr"/>
          <a:lstStyle/>
          <a:p>
            <a:pPr algn="l">
              <a:defRPr sz="975" b="1">
                <a:solidFill>
                  <a:srgbClr val="B5122B"/>
                </a:solidFill>
              </a:defRPr>
            </a:pPr>
            <a:r>
              <a:rPr lang="it-IT" sz="1100" b="1" noProof="0" dirty="0">
                <a:solidFill>
                  <a:srgbClr val="0046AD"/>
                </a:solidFill>
              </a:rPr>
              <a:t>QUADRO COMPLESSIVO</a:t>
            </a:r>
          </a:p>
        </p:txBody>
      </p:sp>
      <p:sp>
        <p:nvSpPr>
          <p:cNvPr id="3" name="Rettangolo 2">
            <a:extLst>
              <a:ext uri="{FF2B5EF4-FFF2-40B4-BE49-F238E27FC236}">
                <a16:creationId xmlns:a16="http://schemas.microsoft.com/office/drawing/2014/main" id="{9F8F363B-CB60-449D-9549-5E0B343F6CE0}"/>
              </a:ext>
            </a:extLst>
          </p:cNvPr>
          <p:cNvSpPr>
            <a:spLocks noGrp="1"/>
          </p:cNvSpPr>
          <p:nvPr/>
        </p:nvSpPr>
        <p:spPr>
          <a:xfrm>
            <a:off x="552450" y="628650"/>
            <a:ext cx="10906125" cy="685800"/>
          </a:xfrm>
          <a:prstGeom prst="rect">
            <a:avLst/>
          </a:prstGeom>
          <a:noFill/>
          <a:ln w="0">
            <a:noFill/>
            <a:prstDash val="solid"/>
          </a:ln>
        </p:spPr>
        <p:txBody>
          <a:bodyPr anchor="ctr"/>
          <a:lstStyle/>
          <a:p>
            <a:pPr algn="l">
              <a:defRPr sz="2550" b="1">
                <a:solidFill>
                  <a:srgbClr val="10243E"/>
                </a:solidFill>
              </a:defRPr>
            </a:pPr>
            <a:endParaRPr lang="it-IT" sz="2550" b="1" noProof="0" dirty="0">
              <a:solidFill>
                <a:srgbClr val="10243E"/>
              </a:solidFill>
            </a:endParaRPr>
          </a:p>
        </p:txBody>
      </p:sp>
      <p:sp>
        <p:nvSpPr>
          <p:cNvPr id="5" name="Rettangolo 4">
            <a:extLst>
              <a:ext uri="{FF2B5EF4-FFF2-40B4-BE49-F238E27FC236}">
                <a16:creationId xmlns:a16="http://schemas.microsoft.com/office/drawing/2014/main" id="{31FD2B20-AA71-437B-A0AA-942AA3708876}"/>
              </a:ext>
            </a:extLst>
          </p:cNvPr>
          <p:cNvSpPr>
            <a:spLocks noGrp="1"/>
          </p:cNvSpPr>
          <p:nvPr/>
        </p:nvSpPr>
        <p:spPr>
          <a:xfrm>
            <a:off x="11001375" y="6391275"/>
            <a:ext cx="457200" cy="171450"/>
          </a:xfrm>
          <a:prstGeom prst="rect">
            <a:avLst/>
          </a:prstGeom>
          <a:noFill/>
          <a:ln w="0">
            <a:noFill/>
            <a:prstDash val="solid"/>
          </a:ln>
        </p:spPr>
        <p:txBody>
          <a:bodyPr anchor="ctr"/>
          <a:lstStyle/>
          <a:p>
            <a:pPr algn="r">
              <a:defRPr sz="900" b="1">
                <a:solidFill>
                  <a:srgbClr val="66717F"/>
                </a:solidFill>
              </a:defRPr>
            </a:pPr>
            <a:r>
              <a:rPr lang="it-IT" sz="900" b="1" noProof="0" dirty="0">
                <a:solidFill>
                  <a:srgbClr val="66717F"/>
                </a:solidFill>
              </a:rPr>
              <a:t>02</a:t>
            </a:r>
          </a:p>
        </p:txBody>
      </p:sp>
      <p:sp>
        <p:nvSpPr>
          <p:cNvPr id="7" name="Rettangolo 6">
            <a:extLst>
              <a:ext uri="{FF2B5EF4-FFF2-40B4-BE49-F238E27FC236}">
                <a16:creationId xmlns:a16="http://schemas.microsoft.com/office/drawing/2014/main" id="{74D42845-EE28-4543-AFD5-8640A722D290}"/>
              </a:ext>
            </a:extLst>
          </p:cNvPr>
          <p:cNvSpPr>
            <a:spLocks noGrp="1"/>
          </p:cNvSpPr>
          <p:nvPr/>
        </p:nvSpPr>
        <p:spPr>
          <a:xfrm>
            <a:off x="647700" y="1866900"/>
            <a:ext cx="2095500" cy="495300"/>
          </a:xfrm>
          <a:prstGeom prst="rect">
            <a:avLst/>
          </a:prstGeom>
          <a:noFill/>
          <a:ln w="0">
            <a:noFill/>
            <a:prstDash val="solid"/>
          </a:ln>
        </p:spPr>
        <p:txBody>
          <a:bodyPr anchor="ctr"/>
          <a:lstStyle/>
          <a:p>
            <a:pPr algn="l">
              <a:defRPr sz="2925" b="1">
                <a:solidFill>
                  <a:srgbClr val="2C6E63"/>
                </a:solidFill>
              </a:defRPr>
            </a:pPr>
            <a:r>
              <a:rPr lang="it-IT" sz="2925" b="1" noProof="0" dirty="0">
                <a:solidFill>
                  <a:srgbClr val="0046AD"/>
                </a:solidFill>
              </a:rPr>
              <a:t>6,75</a:t>
            </a:r>
          </a:p>
        </p:txBody>
      </p:sp>
      <p:sp>
        <p:nvSpPr>
          <p:cNvPr id="8" name="Rettangolo 7">
            <a:extLst>
              <a:ext uri="{FF2B5EF4-FFF2-40B4-BE49-F238E27FC236}">
                <a16:creationId xmlns:a16="http://schemas.microsoft.com/office/drawing/2014/main" id="{38FBB052-2F82-4CEC-94B9-3E101BDD0466}"/>
              </a:ext>
            </a:extLst>
          </p:cNvPr>
          <p:cNvSpPr>
            <a:spLocks noGrp="1"/>
          </p:cNvSpPr>
          <p:nvPr/>
        </p:nvSpPr>
        <p:spPr>
          <a:xfrm>
            <a:off x="647700" y="2371725"/>
            <a:ext cx="2095500" cy="457200"/>
          </a:xfrm>
          <a:prstGeom prst="rect">
            <a:avLst/>
          </a:prstGeom>
          <a:noFill/>
          <a:ln w="0">
            <a:noFill/>
            <a:prstDash val="solid"/>
          </a:ln>
        </p:spPr>
        <p:txBody>
          <a:bodyPr anchor="ctr"/>
          <a:lstStyle/>
          <a:p>
            <a:pPr algn="l">
              <a:defRPr sz="1125" b="0">
                <a:solidFill>
                  <a:srgbClr val="66717F"/>
                </a:solidFill>
              </a:defRPr>
            </a:pPr>
            <a:r>
              <a:rPr lang="it-IT" sz="1125" b="0" noProof="0" dirty="0">
                <a:solidFill>
                  <a:srgbClr val="66717F"/>
                </a:solidFill>
              </a:rPr>
              <a:t>Soddisfazione </a:t>
            </a:r>
            <a:r>
              <a:rPr lang="it-IT" sz="1100" b="0" noProof="0" dirty="0">
                <a:solidFill>
                  <a:srgbClr val="66717F"/>
                </a:solidFill>
              </a:rPr>
              <a:t>complessiva</a:t>
            </a:r>
          </a:p>
        </p:txBody>
      </p:sp>
      <p:sp>
        <p:nvSpPr>
          <p:cNvPr id="9" name="Rettangolo 8">
            <a:extLst>
              <a:ext uri="{FF2B5EF4-FFF2-40B4-BE49-F238E27FC236}">
                <a16:creationId xmlns:a16="http://schemas.microsoft.com/office/drawing/2014/main" id="{4BD17ABF-D913-4079-BDC6-39ADCAA5716B}"/>
              </a:ext>
            </a:extLst>
          </p:cNvPr>
          <p:cNvSpPr>
            <a:spLocks noGrp="1"/>
          </p:cNvSpPr>
          <p:nvPr/>
        </p:nvSpPr>
        <p:spPr>
          <a:xfrm>
            <a:off x="3257550" y="1866900"/>
            <a:ext cx="2095500" cy="495300"/>
          </a:xfrm>
          <a:prstGeom prst="rect">
            <a:avLst/>
          </a:prstGeom>
          <a:noFill/>
          <a:ln w="0">
            <a:noFill/>
            <a:prstDash val="solid"/>
          </a:ln>
        </p:spPr>
        <p:txBody>
          <a:bodyPr anchor="ctr"/>
          <a:lstStyle/>
          <a:p>
            <a:pPr algn="l">
              <a:defRPr sz="2925" b="1">
                <a:solidFill>
                  <a:srgbClr val="B5122B"/>
                </a:solidFill>
              </a:defRPr>
            </a:pPr>
            <a:r>
              <a:rPr lang="it-IT" sz="2925" b="1" noProof="0" dirty="0">
                <a:solidFill>
                  <a:srgbClr val="0046AD"/>
                </a:solidFill>
              </a:rPr>
              <a:t>5,44</a:t>
            </a:r>
          </a:p>
        </p:txBody>
      </p:sp>
      <p:sp>
        <p:nvSpPr>
          <p:cNvPr id="10" name="Rettangolo 9">
            <a:extLst>
              <a:ext uri="{FF2B5EF4-FFF2-40B4-BE49-F238E27FC236}">
                <a16:creationId xmlns:a16="http://schemas.microsoft.com/office/drawing/2014/main" id="{B0093472-C1D8-4F56-B73A-2F79C4A3E139}"/>
              </a:ext>
            </a:extLst>
          </p:cNvPr>
          <p:cNvSpPr>
            <a:spLocks noGrp="1"/>
          </p:cNvSpPr>
          <p:nvPr/>
        </p:nvSpPr>
        <p:spPr>
          <a:xfrm>
            <a:off x="3257550" y="2371725"/>
            <a:ext cx="2095500"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Benessere personale</a:t>
            </a:r>
          </a:p>
        </p:txBody>
      </p:sp>
      <p:sp>
        <p:nvSpPr>
          <p:cNvPr id="11" name="Rettangolo 10">
            <a:extLst>
              <a:ext uri="{FF2B5EF4-FFF2-40B4-BE49-F238E27FC236}">
                <a16:creationId xmlns:a16="http://schemas.microsoft.com/office/drawing/2014/main" id="{ECA64F7F-0EA3-49F9-A948-1D9D44781745}"/>
              </a:ext>
            </a:extLst>
          </p:cNvPr>
          <p:cNvSpPr>
            <a:spLocks noGrp="1"/>
          </p:cNvSpPr>
          <p:nvPr/>
        </p:nvSpPr>
        <p:spPr>
          <a:xfrm>
            <a:off x="5867400" y="1866900"/>
            <a:ext cx="2095500" cy="495300"/>
          </a:xfrm>
          <a:prstGeom prst="rect">
            <a:avLst/>
          </a:prstGeom>
          <a:noFill/>
          <a:ln w="0">
            <a:noFill/>
            <a:prstDash val="solid"/>
          </a:ln>
        </p:spPr>
        <p:txBody>
          <a:bodyPr anchor="ctr"/>
          <a:lstStyle/>
          <a:p>
            <a:pPr algn="l">
              <a:defRPr sz="2925" b="1">
                <a:solidFill>
                  <a:srgbClr val="B56A19"/>
                </a:solidFill>
              </a:defRPr>
            </a:pPr>
            <a:r>
              <a:rPr lang="it-IT" sz="2925" b="1" noProof="0" dirty="0">
                <a:solidFill>
                  <a:srgbClr val="0046AD"/>
                </a:solidFill>
              </a:rPr>
              <a:t>5,98</a:t>
            </a:r>
          </a:p>
        </p:txBody>
      </p:sp>
      <p:sp>
        <p:nvSpPr>
          <p:cNvPr id="12" name="Rettangolo 11">
            <a:extLst>
              <a:ext uri="{FF2B5EF4-FFF2-40B4-BE49-F238E27FC236}">
                <a16:creationId xmlns:a16="http://schemas.microsoft.com/office/drawing/2014/main" id="{1A9A9E3C-D5A0-49DE-B990-07FC0D80DCC1}"/>
              </a:ext>
            </a:extLst>
          </p:cNvPr>
          <p:cNvSpPr>
            <a:spLocks noGrp="1"/>
          </p:cNvSpPr>
          <p:nvPr/>
        </p:nvSpPr>
        <p:spPr>
          <a:xfrm>
            <a:off x="5867400" y="2371725"/>
            <a:ext cx="2095500"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Senso di appartenenza</a:t>
            </a:r>
          </a:p>
        </p:txBody>
      </p:sp>
      <p:sp>
        <p:nvSpPr>
          <p:cNvPr id="13" name="Rettangolo 12">
            <a:extLst>
              <a:ext uri="{FF2B5EF4-FFF2-40B4-BE49-F238E27FC236}">
                <a16:creationId xmlns:a16="http://schemas.microsoft.com/office/drawing/2014/main" id="{ED380192-7EAD-410E-AA10-ABABCAFF1CB2}"/>
              </a:ext>
            </a:extLst>
          </p:cNvPr>
          <p:cNvSpPr>
            <a:spLocks noGrp="1"/>
          </p:cNvSpPr>
          <p:nvPr/>
        </p:nvSpPr>
        <p:spPr>
          <a:xfrm>
            <a:off x="8477250" y="1866900"/>
            <a:ext cx="2381250" cy="495300"/>
          </a:xfrm>
          <a:prstGeom prst="rect">
            <a:avLst/>
          </a:prstGeom>
          <a:noFill/>
          <a:ln w="0">
            <a:noFill/>
            <a:prstDash val="solid"/>
          </a:ln>
        </p:spPr>
        <p:txBody>
          <a:bodyPr anchor="ctr"/>
          <a:lstStyle/>
          <a:p>
            <a:pPr algn="l">
              <a:defRPr sz="2925" b="1">
                <a:solidFill>
                  <a:srgbClr val="B5122B"/>
                </a:solidFill>
              </a:defRPr>
            </a:pPr>
            <a:r>
              <a:rPr lang="it-IT" sz="2925" b="1" noProof="0" dirty="0">
                <a:solidFill>
                  <a:srgbClr val="0046AD"/>
                </a:solidFill>
              </a:rPr>
              <a:t>5,54</a:t>
            </a:r>
          </a:p>
        </p:txBody>
      </p:sp>
      <p:sp>
        <p:nvSpPr>
          <p:cNvPr id="14" name="Rettangolo 13">
            <a:extLst>
              <a:ext uri="{FF2B5EF4-FFF2-40B4-BE49-F238E27FC236}">
                <a16:creationId xmlns:a16="http://schemas.microsoft.com/office/drawing/2014/main" id="{FCC23695-C27B-4E37-8AF0-978C773C0E7F}"/>
              </a:ext>
            </a:extLst>
          </p:cNvPr>
          <p:cNvSpPr>
            <a:spLocks noGrp="1"/>
          </p:cNvSpPr>
          <p:nvPr/>
        </p:nvSpPr>
        <p:spPr>
          <a:xfrm>
            <a:off x="8477250" y="2371725"/>
            <a:ext cx="2381250"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Carico percepito gestibile</a:t>
            </a:r>
          </a:p>
        </p:txBody>
      </p:sp>
      <p:sp>
        <p:nvSpPr>
          <p:cNvPr id="15" name="Rettangolo 14">
            <a:extLst>
              <a:ext uri="{FF2B5EF4-FFF2-40B4-BE49-F238E27FC236}">
                <a16:creationId xmlns:a16="http://schemas.microsoft.com/office/drawing/2014/main" id="{CC8FD898-F836-46AB-8240-CBA10DD33215}"/>
              </a:ext>
            </a:extLst>
          </p:cNvPr>
          <p:cNvSpPr>
            <a:spLocks noGrp="1"/>
          </p:cNvSpPr>
          <p:nvPr/>
        </p:nvSpPr>
        <p:spPr>
          <a:xfrm>
            <a:off x="647700" y="3105150"/>
            <a:ext cx="10287000" cy="19050"/>
          </a:xfrm>
          <a:prstGeom prst="rect">
            <a:avLst/>
          </a:prstGeom>
          <a:solidFill>
            <a:srgbClr val="0046AD"/>
          </a:solidFill>
          <a:ln w="0">
            <a:solidFill>
              <a:srgbClr val="0046AD"/>
            </a:solidFill>
            <a:prstDash val="solid"/>
          </a:ln>
        </p:spPr>
        <p:txBody>
          <a:bodyPr/>
          <a:lstStyle/>
          <a:p>
            <a:endParaRPr lang="it-IT" noProof="0" dirty="0"/>
          </a:p>
        </p:txBody>
      </p:sp>
      <p:sp>
        <p:nvSpPr>
          <p:cNvPr id="16" name="Rettangolo 15">
            <a:extLst>
              <a:ext uri="{FF2B5EF4-FFF2-40B4-BE49-F238E27FC236}">
                <a16:creationId xmlns:a16="http://schemas.microsoft.com/office/drawing/2014/main" id="{A42C9919-E615-4C67-AE05-DD1EAD0C7836}"/>
              </a:ext>
            </a:extLst>
          </p:cNvPr>
          <p:cNvSpPr>
            <a:spLocks noGrp="1"/>
          </p:cNvSpPr>
          <p:nvPr/>
        </p:nvSpPr>
        <p:spPr>
          <a:xfrm>
            <a:off x="647700" y="3495675"/>
            <a:ext cx="66675" cy="66675"/>
          </a:xfrm>
          <a:prstGeom prst="rect">
            <a:avLst/>
          </a:prstGeom>
          <a:solidFill>
            <a:srgbClr val="0046AD"/>
          </a:solidFill>
          <a:ln w="0">
            <a:solidFill>
              <a:srgbClr val="0046AD"/>
            </a:solidFill>
            <a:prstDash val="solid"/>
          </a:ln>
        </p:spPr>
        <p:txBody>
          <a:bodyPr/>
          <a:lstStyle/>
          <a:p>
            <a:endParaRPr lang="it-IT" noProof="0" dirty="0"/>
          </a:p>
        </p:txBody>
      </p:sp>
      <p:sp>
        <p:nvSpPr>
          <p:cNvPr id="17" name="Rettangolo 16">
            <a:extLst>
              <a:ext uri="{FF2B5EF4-FFF2-40B4-BE49-F238E27FC236}">
                <a16:creationId xmlns:a16="http://schemas.microsoft.com/office/drawing/2014/main" id="{1D6DD4C2-8FE2-4059-BDC1-958B48454963}"/>
              </a:ext>
            </a:extLst>
          </p:cNvPr>
          <p:cNvSpPr>
            <a:spLocks noGrp="1"/>
          </p:cNvSpPr>
          <p:nvPr/>
        </p:nvSpPr>
        <p:spPr>
          <a:xfrm>
            <a:off x="857250" y="3429000"/>
            <a:ext cx="455295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La </a:t>
            </a:r>
            <a:r>
              <a:rPr lang="it-IT" sz="1400" b="1" noProof="0" dirty="0">
                <a:solidFill>
                  <a:srgbClr val="0046AD"/>
                </a:solidFill>
              </a:rPr>
              <a:t>soddisfazione</a:t>
            </a:r>
            <a:r>
              <a:rPr lang="it-IT" sz="1350" b="1" noProof="0" dirty="0">
                <a:solidFill>
                  <a:srgbClr val="0046AD"/>
                </a:solidFill>
              </a:rPr>
              <a:t> non è una proxy del benessere</a:t>
            </a:r>
          </a:p>
        </p:txBody>
      </p:sp>
      <p:sp>
        <p:nvSpPr>
          <p:cNvPr id="18" name="Rettangolo 17">
            <a:extLst>
              <a:ext uri="{FF2B5EF4-FFF2-40B4-BE49-F238E27FC236}">
                <a16:creationId xmlns:a16="http://schemas.microsoft.com/office/drawing/2014/main" id="{A5065B07-F545-444B-A59E-1CC76B75CFBA}"/>
              </a:ext>
            </a:extLst>
          </p:cNvPr>
          <p:cNvSpPr>
            <a:spLocks noGrp="1"/>
          </p:cNvSpPr>
          <p:nvPr/>
        </p:nvSpPr>
        <p:spPr>
          <a:xfrm>
            <a:off x="857250" y="3714750"/>
            <a:ext cx="4552950" cy="46672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Il legame tra i due indicatori è debole: si può valutare positivamente l’università pur vivendo stress o fragilità personali A un punto di aumento nella soddisfazione è associato 0,1 aumento nel benessere.</a:t>
            </a:r>
          </a:p>
        </p:txBody>
      </p:sp>
      <p:sp>
        <p:nvSpPr>
          <p:cNvPr id="19" name="Rettangolo 18">
            <a:extLst>
              <a:ext uri="{FF2B5EF4-FFF2-40B4-BE49-F238E27FC236}">
                <a16:creationId xmlns:a16="http://schemas.microsoft.com/office/drawing/2014/main" id="{80C51C5B-FB0B-4272-AB20-83DF6CFE82A5}"/>
              </a:ext>
            </a:extLst>
          </p:cNvPr>
          <p:cNvSpPr>
            <a:spLocks noGrp="1"/>
          </p:cNvSpPr>
          <p:nvPr/>
        </p:nvSpPr>
        <p:spPr>
          <a:xfrm>
            <a:off x="647700" y="4600575"/>
            <a:ext cx="66675" cy="66675"/>
          </a:xfrm>
          <a:prstGeom prst="rect">
            <a:avLst/>
          </a:prstGeom>
          <a:solidFill>
            <a:srgbClr val="0046AD"/>
          </a:solidFill>
          <a:ln w="0">
            <a:solidFill>
              <a:srgbClr val="0046AD"/>
            </a:solidFill>
            <a:prstDash val="solid"/>
          </a:ln>
        </p:spPr>
        <p:txBody>
          <a:bodyPr/>
          <a:lstStyle/>
          <a:p>
            <a:endParaRPr lang="it-IT" noProof="0" dirty="0"/>
          </a:p>
        </p:txBody>
      </p:sp>
      <p:sp>
        <p:nvSpPr>
          <p:cNvPr id="20" name="Rettangolo 19">
            <a:extLst>
              <a:ext uri="{FF2B5EF4-FFF2-40B4-BE49-F238E27FC236}">
                <a16:creationId xmlns:a16="http://schemas.microsoft.com/office/drawing/2014/main" id="{58CE745B-F82A-4DE5-BD2D-2C78C0FA5BE5}"/>
              </a:ext>
            </a:extLst>
          </p:cNvPr>
          <p:cNvSpPr>
            <a:spLocks noGrp="1"/>
          </p:cNvSpPr>
          <p:nvPr/>
        </p:nvSpPr>
        <p:spPr>
          <a:xfrm>
            <a:off x="857250" y="4533900"/>
            <a:ext cx="464820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Le difficoltà si </a:t>
            </a:r>
            <a:r>
              <a:rPr lang="it-IT" sz="1400" b="1" noProof="0" dirty="0">
                <a:solidFill>
                  <a:srgbClr val="0046AD"/>
                </a:solidFill>
              </a:rPr>
              <a:t>concentrano</a:t>
            </a:r>
            <a:r>
              <a:rPr lang="it-IT" sz="1350" b="1" noProof="0" dirty="0">
                <a:solidFill>
                  <a:srgbClr val="0046AD"/>
                </a:solidFill>
              </a:rPr>
              <a:t> su driver diversi</a:t>
            </a:r>
          </a:p>
        </p:txBody>
      </p:sp>
      <p:sp>
        <p:nvSpPr>
          <p:cNvPr id="21" name="Rettangolo 20">
            <a:extLst>
              <a:ext uri="{FF2B5EF4-FFF2-40B4-BE49-F238E27FC236}">
                <a16:creationId xmlns:a16="http://schemas.microsoft.com/office/drawing/2014/main" id="{18D19834-7189-449F-92E4-F67F7C9A31D0}"/>
              </a:ext>
            </a:extLst>
          </p:cNvPr>
          <p:cNvSpPr>
            <a:spLocks noGrp="1"/>
          </p:cNvSpPr>
          <p:nvPr/>
        </p:nvSpPr>
        <p:spPr>
          <a:xfrm>
            <a:off x="857250" y="4819650"/>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Pressione economica per il benessere; pendolarismo e origine internazionale per l’appartenenza.</a:t>
            </a:r>
          </a:p>
        </p:txBody>
      </p:sp>
      <p:sp>
        <p:nvSpPr>
          <p:cNvPr id="31" name="Rettangolo 30">
            <a:extLst>
              <a:ext uri="{FF2B5EF4-FFF2-40B4-BE49-F238E27FC236}">
                <a16:creationId xmlns:a16="http://schemas.microsoft.com/office/drawing/2014/main" id="{C1DE09FD-AF48-D6BB-B0C1-2558B58C9752}"/>
              </a:ext>
            </a:extLst>
          </p:cNvPr>
          <p:cNvSpPr>
            <a:spLocks noGrp="1"/>
          </p:cNvSpPr>
          <p:nvPr/>
        </p:nvSpPr>
        <p:spPr>
          <a:xfrm>
            <a:off x="552450" y="533400"/>
            <a:ext cx="10906125" cy="685800"/>
          </a:xfrm>
          <a:prstGeom prst="rect">
            <a:avLst/>
          </a:prstGeom>
          <a:noFill/>
          <a:ln w="0">
            <a:noFill/>
            <a:prstDash val="solid"/>
          </a:ln>
        </p:spPr>
        <p:txBody>
          <a:bodyPr anchor="ctr"/>
          <a:lstStyle/>
          <a:p>
            <a:pPr>
              <a:defRPr sz="2550" b="1">
                <a:solidFill>
                  <a:srgbClr val="10243E"/>
                </a:solidFill>
              </a:defRPr>
            </a:pPr>
            <a:r>
              <a:rPr lang="it-IT" sz="2550" b="1" noProof="0" dirty="0">
                <a:solidFill>
                  <a:srgbClr val="10243E"/>
                </a:solidFill>
              </a:rPr>
              <a:t>La soddisfazione è discreta, ma non racconta tutto</a:t>
            </a:r>
          </a:p>
        </p:txBody>
      </p:sp>
      <p:sp>
        <p:nvSpPr>
          <p:cNvPr id="33" name="CasellaDiTesto 32">
            <a:extLst>
              <a:ext uri="{FF2B5EF4-FFF2-40B4-BE49-F238E27FC236}">
                <a16:creationId xmlns:a16="http://schemas.microsoft.com/office/drawing/2014/main" id="{91982F20-7209-3CBD-4546-784FE5069589}"/>
              </a:ext>
            </a:extLst>
          </p:cNvPr>
          <p:cNvSpPr txBox="1"/>
          <p:nvPr/>
        </p:nvSpPr>
        <p:spPr>
          <a:xfrm>
            <a:off x="533399" y="1104900"/>
            <a:ext cx="11344275" cy="307777"/>
          </a:xfrm>
          <a:prstGeom prst="rect">
            <a:avLst/>
          </a:prstGeom>
          <a:noFill/>
        </p:spPr>
        <p:txBody>
          <a:bodyPr wrap="square" rtlCol="0">
            <a:spAutoFit/>
          </a:bodyPr>
          <a:lstStyle/>
          <a:p>
            <a:r>
              <a:rPr lang="it-IT" sz="1400" noProof="0" dirty="0"/>
              <a:t>Calcolando la media delle risposte è possibile comprendere che gli studenti sono abbastanza soddisfatti, ma il loro benessere percepito è piuttosto basso</a:t>
            </a:r>
          </a:p>
        </p:txBody>
      </p:sp>
      <p:graphicFrame>
        <p:nvGraphicFramePr>
          <p:cNvPr id="36" name="Tabella 35">
            <a:extLst>
              <a:ext uri="{FF2B5EF4-FFF2-40B4-BE49-F238E27FC236}">
                <a16:creationId xmlns:a16="http://schemas.microsoft.com/office/drawing/2014/main" id="{EB6EF727-6E3C-99BF-E0E2-D0B6441354B6}"/>
              </a:ext>
            </a:extLst>
          </p:cNvPr>
          <p:cNvGraphicFramePr>
            <a:graphicFrameLocks noGrp="1"/>
          </p:cNvGraphicFramePr>
          <p:nvPr>
            <p:extLst>
              <p:ext uri="{D42A27DB-BD31-4B8C-83A1-F6EECF244321}">
                <p14:modId xmlns:p14="http://schemas.microsoft.com/office/powerpoint/2010/main" val="56072116"/>
              </p:ext>
            </p:extLst>
          </p:nvPr>
        </p:nvGraphicFramePr>
        <p:xfrm>
          <a:off x="6915150" y="3429000"/>
          <a:ext cx="4133850" cy="2529840"/>
        </p:xfrm>
        <a:graphic>
          <a:graphicData uri="http://schemas.openxmlformats.org/drawingml/2006/table">
            <a:tbl>
              <a:tblPr firstRow="1" bandRow="1">
                <a:tableStyleId>{5C22544A-7EE6-4342-B048-85BDC9FD1C3A}</a:tableStyleId>
              </a:tblPr>
              <a:tblGrid>
                <a:gridCol w="1377950">
                  <a:extLst>
                    <a:ext uri="{9D8B030D-6E8A-4147-A177-3AD203B41FA5}">
                      <a16:colId xmlns:a16="http://schemas.microsoft.com/office/drawing/2014/main" val="2132339282"/>
                    </a:ext>
                  </a:extLst>
                </a:gridCol>
                <a:gridCol w="1609988">
                  <a:extLst>
                    <a:ext uri="{9D8B030D-6E8A-4147-A177-3AD203B41FA5}">
                      <a16:colId xmlns:a16="http://schemas.microsoft.com/office/drawing/2014/main" val="2957533858"/>
                    </a:ext>
                  </a:extLst>
                </a:gridCol>
                <a:gridCol w="1145912">
                  <a:extLst>
                    <a:ext uri="{9D8B030D-6E8A-4147-A177-3AD203B41FA5}">
                      <a16:colId xmlns:a16="http://schemas.microsoft.com/office/drawing/2014/main" val="1860451591"/>
                    </a:ext>
                  </a:extLst>
                </a:gridCol>
              </a:tblGrid>
              <a:tr h="266629">
                <a:tc>
                  <a:txBody>
                    <a:bodyPr/>
                    <a:lstStyle/>
                    <a:p>
                      <a:r>
                        <a:rPr lang="it-IT" sz="1600" noProof="0" dirty="0"/>
                        <a:t>Variabile 1</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46AD"/>
                    </a:solidFill>
                  </a:tcPr>
                </a:tc>
                <a:tc>
                  <a:txBody>
                    <a:bodyPr/>
                    <a:lstStyle/>
                    <a:p>
                      <a:r>
                        <a:rPr lang="it-IT" sz="1600" noProof="0" dirty="0"/>
                        <a:t>Variabile 2</a:t>
                      </a:r>
                    </a:p>
                  </a:txBody>
                  <a:tcP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46AD"/>
                    </a:solidFill>
                  </a:tcPr>
                </a:tc>
                <a:tc>
                  <a:txBody>
                    <a:bodyPr/>
                    <a:lstStyle/>
                    <a:p>
                      <a:r>
                        <a:rPr lang="it-IT" sz="1600" noProof="0" dirty="0"/>
                        <a:t>Pearson r</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rgbClr val="0046AD"/>
                    </a:solidFill>
                  </a:tcPr>
                </a:tc>
                <a:extLst>
                  <a:ext uri="{0D108BD9-81ED-4DB2-BD59-A6C34878D82A}">
                    <a16:rowId xmlns:a16="http://schemas.microsoft.com/office/drawing/2014/main" val="3156270558"/>
                  </a:ext>
                </a:extLst>
              </a:tr>
              <a:tr h="266629">
                <a:tc>
                  <a:txBody>
                    <a:bodyPr/>
                    <a:lstStyle/>
                    <a:p>
                      <a:r>
                        <a:rPr lang="it-IT" sz="1200" noProof="0" dirty="0" err="1"/>
                        <a:t>Economic</a:t>
                      </a:r>
                      <a:r>
                        <a:rPr lang="it-IT" sz="1200" noProof="0" dirty="0"/>
                        <a:t> pressure</a:t>
                      </a:r>
                    </a:p>
                  </a:txBody>
                  <a:tcPr>
                    <a:lnL w="12700" cap="flat" cmpd="sng" algn="ctr">
                      <a:noFill/>
                      <a:prstDash val="solid"/>
                      <a:round/>
                      <a:headEnd type="none" w="med" len="med"/>
                      <a:tailEnd type="none" w="med" len="med"/>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Benessere</a:t>
                      </a:r>
                    </a:p>
                  </a:txBody>
                  <a:tcP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-0,30</a:t>
                      </a:r>
                    </a:p>
                  </a:txBody>
                  <a:tcPr>
                    <a:lnL w="12700" cmpd="sng">
                      <a:noFill/>
                    </a:lnL>
                    <a:lnR w="12700" cap="flat" cmpd="sng" algn="ctr">
                      <a:noFill/>
                      <a:prstDash val="solid"/>
                      <a:round/>
                      <a:headEnd type="none" w="med" len="med"/>
                      <a:tailEnd type="none" w="med" len="med"/>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8326656"/>
                  </a:ext>
                </a:extLst>
              </a:tr>
              <a:tr h="266629">
                <a:tc>
                  <a:txBody>
                    <a:bodyPr/>
                    <a:lstStyle/>
                    <a:p>
                      <a:r>
                        <a:rPr lang="it-IT" sz="1200" noProof="0" dirty="0" err="1"/>
                        <a:t>Commuting</a:t>
                      </a:r>
                      <a:r>
                        <a:rPr lang="it-IT" sz="1200" noProof="0" dirty="0"/>
                        <a:t> time</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Appartenenza</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-0,27</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453033"/>
                  </a:ext>
                </a:extLst>
              </a:tr>
              <a:tr h="266629">
                <a:tc>
                  <a:txBody>
                    <a:bodyPr/>
                    <a:lstStyle/>
                    <a:p>
                      <a:r>
                        <a:rPr lang="it-IT" sz="1200" noProof="0" dirty="0"/>
                        <a:t>GPA</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Soddisfazione</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+0,22</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3297605"/>
                  </a:ext>
                </a:extLst>
              </a:tr>
              <a:tr h="266629">
                <a:tc>
                  <a:txBody>
                    <a:bodyPr/>
                    <a:lstStyle/>
                    <a:p>
                      <a:r>
                        <a:rPr lang="it-IT" sz="1200" noProof="0" dirty="0"/>
                        <a:t>GPA</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Carichi gestibili</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-0,17</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591373"/>
                  </a:ext>
                </a:extLst>
              </a:tr>
              <a:tr h="266629">
                <a:tc>
                  <a:txBody>
                    <a:bodyPr/>
                    <a:lstStyle/>
                    <a:p>
                      <a:r>
                        <a:rPr lang="it-IT" sz="1200" noProof="0" dirty="0"/>
                        <a:t>Appartenenza</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Benessere</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+0,30</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7860194"/>
                  </a:ext>
                </a:extLst>
              </a:tr>
              <a:tr h="266629">
                <a:tc>
                  <a:txBody>
                    <a:bodyPr/>
                    <a:lstStyle/>
                    <a:p>
                      <a:r>
                        <a:rPr lang="it-IT" sz="1200" noProof="0" dirty="0"/>
                        <a:t>Carichi gestibili</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Benessere</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+0,25</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67757472"/>
                  </a:ext>
                </a:extLst>
              </a:tr>
              <a:tr h="266629">
                <a:tc>
                  <a:txBody>
                    <a:bodyPr/>
                    <a:lstStyle/>
                    <a:p>
                      <a:r>
                        <a:rPr lang="it-IT" sz="1200" noProof="0" dirty="0"/>
                        <a:t>Soddisfazione</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Benessere</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+0,12</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795913"/>
                  </a:ext>
                </a:extLst>
              </a:tr>
              <a:tr h="266629">
                <a:tc>
                  <a:txBody>
                    <a:bodyPr/>
                    <a:lstStyle/>
                    <a:p>
                      <a:r>
                        <a:rPr lang="it-IT" sz="1200" noProof="0" dirty="0"/>
                        <a:t>Soddisfazione</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it-IT" sz="1200" noProof="0" dirty="0"/>
                        <a:t>Carichi gestibili</a:t>
                      </a:r>
                    </a:p>
                  </a:txBody>
                  <a:tcP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it-IT" sz="1200" noProof="0" dirty="0"/>
                        <a:t>-0,03</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1987500"/>
                  </a:ext>
                </a:extLst>
              </a:tr>
            </a:tbl>
          </a:graphicData>
        </a:graphic>
      </p:graphicFrame>
    </p:spTree>
    <p:extLst>
      <p:ext uri="{BB962C8B-B14F-4D97-AF65-F5344CB8AC3E}">
        <p14:creationId xmlns:p14="http://schemas.microsoft.com/office/powerpoint/2010/main" val="2094943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Rettangolo 33">
            <a:extLst>
              <a:ext uri="{FF2B5EF4-FFF2-40B4-BE49-F238E27FC236}">
                <a16:creationId xmlns:a16="http://schemas.microsoft.com/office/drawing/2014/main" id="{6F8392DE-E783-247E-B920-4281B4CA45DA}"/>
              </a:ext>
            </a:extLst>
          </p:cNvPr>
          <p:cNvSpPr/>
          <p:nvPr/>
        </p:nvSpPr>
        <p:spPr>
          <a:xfrm>
            <a:off x="466726" y="2138363"/>
            <a:ext cx="11430000" cy="4186237"/>
          </a:xfrm>
          <a:prstGeom prst="rect">
            <a:avLst/>
          </a:prstGeom>
          <a:gradFill>
            <a:gsLst>
              <a:gs pos="5000">
                <a:schemeClr val="bg1"/>
              </a:gs>
              <a:gs pos="76000">
                <a:srgbClr val="0046AD"/>
              </a:gs>
            </a:gsLst>
            <a:lin ang="4200000" scaled="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dirty="0"/>
          </a:p>
        </p:txBody>
      </p:sp>
      <p:sp>
        <p:nvSpPr>
          <p:cNvPr id="25" name="Rettangolo con angoli arrotondati 24">
            <a:extLst>
              <a:ext uri="{FF2B5EF4-FFF2-40B4-BE49-F238E27FC236}">
                <a16:creationId xmlns:a16="http://schemas.microsoft.com/office/drawing/2014/main" id="{B0788824-B268-B63F-C235-329119F1CB02}"/>
              </a:ext>
            </a:extLst>
          </p:cNvPr>
          <p:cNvSpPr/>
          <p:nvPr/>
        </p:nvSpPr>
        <p:spPr>
          <a:xfrm>
            <a:off x="533400" y="2247898"/>
            <a:ext cx="5000625" cy="3943351"/>
          </a:xfrm>
          <a:prstGeom prst="roundRect">
            <a:avLst>
              <a:gd name="adj" fmla="val 6262"/>
            </a:avLst>
          </a:prstGeom>
          <a:solidFill>
            <a:schemeClr val="bg1"/>
          </a:solidFill>
          <a:ln>
            <a:solidFill>
              <a:srgbClr val="0046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noProof="0" dirty="0"/>
          </a:p>
        </p:txBody>
      </p:sp>
      <p:sp>
        <p:nvSpPr>
          <p:cNvPr id="21" name="Rettangolo 20">
            <a:extLst>
              <a:ext uri="{FF2B5EF4-FFF2-40B4-BE49-F238E27FC236}">
                <a16:creationId xmlns:a16="http://schemas.microsoft.com/office/drawing/2014/main" id="{FF44462F-473D-41A7-8992-1B6F7C3CE197}"/>
              </a:ext>
            </a:extLst>
          </p:cNvPr>
          <p:cNvSpPr>
            <a:spLocks noGrp="1"/>
          </p:cNvSpPr>
          <p:nvPr/>
        </p:nvSpPr>
        <p:spPr>
          <a:xfrm>
            <a:off x="0" y="0"/>
            <a:ext cx="142875" cy="6858000"/>
          </a:xfrm>
          <a:prstGeom prst="rect">
            <a:avLst/>
          </a:prstGeom>
          <a:solidFill>
            <a:srgbClr val="0046AD"/>
          </a:solidFill>
          <a:ln w="0">
            <a:solidFill>
              <a:srgbClr val="0046AD"/>
            </a:solidFill>
            <a:prstDash val="solid"/>
          </a:ln>
        </p:spPr>
        <p:txBody>
          <a:bodyPr/>
          <a:lstStyle/>
          <a:p>
            <a:endParaRPr lang="it-IT" noProof="0" dirty="0"/>
          </a:p>
        </p:txBody>
      </p:sp>
      <p:sp>
        <p:nvSpPr>
          <p:cNvPr id="2" name="Rettangolo 1">
            <a:extLst>
              <a:ext uri="{FF2B5EF4-FFF2-40B4-BE49-F238E27FC236}">
                <a16:creationId xmlns:a16="http://schemas.microsoft.com/office/drawing/2014/main" id="{0886D9B8-7B6C-437E-AE81-337069506987}"/>
              </a:ext>
            </a:extLst>
          </p:cNvPr>
          <p:cNvSpPr>
            <a:spLocks noGrp="1"/>
          </p:cNvSpPr>
          <p:nvPr/>
        </p:nvSpPr>
        <p:spPr>
          <a:xfrm>
            <a:off x="552450" y="304800"/>
            <a:ext cx="5715000" cy="228600"/>
          </a:xfrm>
          <a:prstGeom prst="rect">
            <a:avLst/>
          </a:prstGeom>
          <a:noFill/>
          <a:ln w="0">
            <a:noFill/>
            <a:prstDash val="solid"/>
          </a:ln>
        </p:spPr>
        <p:txBody>
          <a:bodyPr anchor="ctr"/>
          <a:lstStyle/>
          <a:p>
            <a:pPr algn="l">
              <a:defRPr sz="975" b="1">
                <a:solidFill>
                  <a:srgbClr val="B5122B"/>
                </a:solidFill>
              </a:defRPr>
            </a:pPr>
            <a:r>
              <a:rPr lang="it-IT" sz="1100" b="1" noProof="0" dirty="0">
                <a:solidFill>
                  <a:srgbClr val="0046AD"/>
                </a:solidFill>
              </a:rPr>
              <a:t>RELAZIONI E SOTTOGRUPPI</a:t>
            </a:r>
          </a:p>
        </p:txBody>
      </p:sp>
      <p:sp>
        <p:nvSpPr>
          <p:cNvPr id="3" name="Rettangolo 2">
            <a:extLst>
              <a:ext uri="{FF2B5EF4-FFF2-40B4-BE49-F238E27FC236}">
                <a16:creationId xmlns:a16="http://schemas.microsoft.com/office/drawing/2014/main" id="{8F384032-6A34-4C45-A2D2-693919239677}"/>
              </a:ext>
            </a:extLst>
          </p:cNvPr>
          <p:cNvSpPr>
            <a:spLocks noGrp="1"/>
          </p:cNvSpPr>
          <p:nvPr/>
        </p:nvSpPr>
        <p:spPr>
          <a:xfrm>
            <a:off x="552450" y="1190625"/>
            <a:ext cx="10906125" cy="685800"/>
          </a:xfrm>
          <a:prstGeom prst="rect">
            <a:avLst/>
          </a:prstGeom>
          <a:noFill/>
          <a:ln w="0">
            <a:noFill/>
            <a:prstDash val="solid"/>
          </a:ln>
        </p:spPr>
        <p:txBody>
          <a:bodyPr anchor="ctr"/>
          <a:lstStyle/>
          <a:p>
            <a:pPr algn="l">
              <a:defRPr sz="2550" b="1">
                <a:solidFill>
                  <a:srgbClr val="10243E"/>
                </a:solidFill>
              </a:defRPr>
            </a:pPr>
            <a:endParaRPr lang="it-IT" sz="2550" b="1" noProof="0" dirty="0">
              <a:solidFill>
                <a:srgbClr val="10243E"/>
              </a:solidFill>
            </a:endParaRPr>
          </a:p>
        </p:txBody>
      </p:sp>
      <p:sp>
        <p:nvSpPr>
          <p:cNvPr id="5" name="Rettangolo 4">
            <a:extLst>
              <a:ext uri="{FF2B5EF4-FFF2-40B4-BE49-F238E27FC236}">
                <a16:creationId xmlns:a16="http://schemas.microsoft.com/office/drawing/2014/main" id="{A7C8ECA7-4CD4-4593-818A-B55CD13FA3DC}"/>
              </a:ext>
            </a:extLst>
          </p:cNvPr>
          <p:cNvSpPr>
            <a:spLocks noGrp="1"/>
          </p:cNvSpPr>
          <p:nvPr/>
        </p:nvSpPr>
        <p:spPr>
          <a:xfrm>
            <a:off x="11001375" y="6391275"/>
            <a:ext cx="457200" cy="171450"/>
          </a:xfrm>
          <a:prstGeom prst="rect">
            <a:avLst/>
          </a:prstGeom>
          <a:noFill/>
          <a:ln w="0">
            <a:noFill/>
            <a:prstDash val="solid"/>
          </a:ln>
        </p:spPr>
        <p:txBody>
          <a:bodyPr anchor="ctr"/>
          <a:lstStyle/>
          <a:p>
            <a:pPr algn="r">
              <a:defRPr sz="900" b="1">
                <a:solidFill>
                  <a:srgbClr val="66717F"/>
                </a:solidFill>
              </a:defRPr>
            </a:pPr>
            <a:r>
              <a:rPr lang="it-IT" sz="900" b="1" noProof="0" dirty="0">
                <a:solidFill>
                  <a:srgbClr val="66717F"/>
                </a:solidFill>
              </a:rPr>
              <a:t>03</a:t>
            </a:r>
          </a:p>
        </p:txBody>
      </p:sp>
      <p:sp>
        <p:nvSpPr>
          <p:cNvPr id="7" name="Rettangolo 6">
            <a:extLst>
              <a:ext uri="{FF2B5EF4-FFF2-40B4-BE49-F238E27FC236}">
                <a16:creationId xmlns:a16="http://schemas.microsoft.com/office/drawing/2014/main" id="{8E8920C0-DF62-48D3-9901-E8D9B4A43E65}"/>
              </a:ext>
            </a:extLst>
          </p:cNvPr>
          <p:cNvSpPr>
            <a:spLocks noGrp="1"/>
          </p:cNvSpPr>
          <p:nvPr/>
        </p:nvSpPr>
        <p:spPr>
          <a:xfrm>
            <a:off x="666750" y="2438400"/>
            <a:ext cx="66675" cy="66675"/>
          </a:xfrm>
          <a:prstGeom prst="rect">
            <a:avLst/>
          </a:prstGeom>
          <a:solidFill>
            <a:srgbClr val="0046AD"/>
          </a:solidFill>
          <a:ln w="0">
            <a:noFill/>
            <a:prstDash val="solid"/>
          </a:ln>
        </p:spPr>
        <p:txBody>
          <a:bodyPr/>
          <a:lstStyle/>
          <a:p>
            <a:endParaRPr lang="it-IT" noProof="0" dirty="0"/>
          </a:p>
        </p:txBody>
      </p:sp>
      <p:sp>
        <p:nvSpPr>
          <p:cNvPr id="8" name="Rettangolo 7">
            <a:extLst>
              <a:ext uri="{FF2B5EF4-FFF2-40B4-BE49-F238E27FC236}">
                <a16:creationId xmlns:a16="http://schemas.microsoft.com/office/drawing/2014/main" id="{7C162DE8-ACC6-4586-9C33-099C90015B57}"/>
              </a:ext>
            </a:extLst>
          </p:cNvPr>
          <p:cNvSpPr>
            <a:spLocks noGrp="1"/>
          </p:cNvSpPr>
          <p:nvPr/>
        </p:nvSpPr>
        <p:spPr>
          <a:xfrm>
            <a:off x="876300" y="2371725"/>
            <a:ext cx="464820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Benessere: pesa la pressione economica</a:t>
            </a:r>
          </a:p>
        </p:txBody>
      </p:sp>
      <p:sp>
        <p:nvSpPr>
          <p:cNvPr id="9" name="Rettangolo 8">
            <a:extLst>
              <a:ext uri="{FF2B5EF4-FFF2-40B4-BE49-F238E27FC236}">
                <a16:creationId xmlns:a16="http://schemas.microsoft.com/office/drawing/2014/main" id="{C2713FEC-071B-4677-883D-24595B73D96D}"/>
              </a:ext>
            </a:extLst>
          </p:cNvPr>
          <p:cNvSpPr>
            <a:spLocks noGrp="1"/>
          </p:cNvSpPr>
          <p:nvPr/>
        </p:nvSpPr>
        <p:spPr>
          <a:xfrm>
            <a:off x="876300" y="2714625"/>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t>+1 punto di pressione economica è associato a circa −0,19 punti di benessere, anche tenendo conto del profilo dello studente. Vivere con la famiglia è associato con maggior benessere, mentre avere un lavoro part-time è correlato</a:t>
            </a:r>
            <a:r>
              <a:rPr lang="it-IT" sz="1200" noProof="0" dirty="0"/>
              <a:t> con un benessere minore.</a:t>
            </a:r>
            <a:endParaRPr lang="it-IT" sz="1200" b="0" noProof="0" dirty="0"/>
          </a:p>
        </p:txBody>
      </p:sp>
      <p:sp>
        <p:nvSpPr>
          <p:cNvPr id="10" name="Rettangolo 9">
            <a:extLst>
              <a:ext uri="{FF2B5EF4-FFF2-40B4-BE49-F238E27FC236}">
                <a16:creationId xmlns:a16="http://schemas.microsoft.com/office/drawing/2014/main" id="{02894892-7D1A-4C33-BF89-6F02C54F84CA}"/>
              </a:ext>
            </a:extLst>
          </p:cNvPr>
          <p:cNvSpPr>
            <a:spLocks noGrp="1"/>
          </p:cNvSpPr>
          <p:nvPr/>
        </p:nvSpPr>
        <p:spPr>
          <a:xfrm>
            <a:off x="666750" y="3409950"/>
            <a:ext cx="66675" cy="66675"/>
          </a:xfrm>
          <a:prstGeom prst="rect">
            <a:avLst/>
          </a:prstGeom>
          <a:solidFill>
            <a:srgbClr val="0046AD"/>
          </a:solidFill>
          <a:ln w="0">
            <a:noFill/>
            <a:prstDash val="solid"/>
          </a:ln>
        </p:spPr>
        <p:txBody>
          <a:bodyPr/>
          <a:lstStyle/>
          <a:p>
            <a:endParaRPr lang="it-IT" noProof="0" dirty="0"/>
          </a:p>
        </p:txBody>
      </p:sp>
      <p:sp>
        <p:nvSpPr>
          <p:cNvPr id="11" name="Rettangolo 10">
            <a:extLst>
              <a:ext uri="{FF2B5EF4-FFF2-40B4-BE49-F238E27FC236}">
                <a16:creationId xmlns:a16="http://schemas.microsoft.com/office/drawing/2014/main" id="{445D4171-6EAC-4DF0-8651-1105BB282700}"/>
              </a:ext>
            </a:extLst>
          </p:cNvPr>
          <p:cNvSpPr>
            <a:spLocks noGrp="1"/>
          </p:cNvSpPr>
          <p:nvPr/>
        </p:nvSpPr>
        <p:spPr>
          <a:xfrm>
            <a:off x="876300" y="3343275"/>
            <a:ext cx="464820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Appartenenza: contano tempo e integrazione</a:t>
            </a:r>
          </a:p>
        </p:txBody>
      </p:sp>
      <p:sp>
        <p:nvSpPr>
          <p:cNvPr id="12" name="Rettangolo 11">
            <a:extLst>
              <a:ext uri="{FF2B5EF4-FFF2-40B4-BE49-F238E27FC236}">
                <a16:creationId xmlns:a16="http://schemas.microsoft.com/office/drawing/2014/main" id="{A6717A50-D419-4322-ABE9-4C419BDD3C6A}"/>
              </a:ext>
            </a:extLst>
          </p:cNvPr>
          <p:cNvSpPr>
            <a:spLocks noGrp="1"/>
          </p:cNvSpPr>
          <p:nvPr/>
        </p:nvSpPr>
        <p:spPr>
          <a:xfrm>
            <a:off x="876300" y="3810000"/>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t>+10 minuti di pendolarismo ≈ −0,23 punti; gli studenti internazionali registrano quasi 1 punto in meno. </a:t>
            </a:r>
            <a:r>
              <a:rPr lang="it-IT" sz="1200" noProof="0" dirty="0"/>
              <a:t>Vivere in uno studentato è associato con +0,46 punti, probabilmente perché anche le residenze Bocconi sono incluse. La distanza fisica perde importanza quando si considerano le altre variabili.</a:t>
            </a:r>
            <a:endParaRPr lang="it-IT" sz="1200" b="0" noProof="0" dirty="0"/>
          </a:p>
        </p:txBody>
      </p:sp>
      <p:sp>
        <p:nvSpPr>
          <p:cNvPr id="13" name="Rettangolo 12">
            <a:extLst>
              <a:ext uri="{FF2B5EF4-FFF2-40B4-BE49-F238E27FC236}">
                <a16:creationId xmlns:a16="http://schemas.microsoft.com/office/drawing/2014/main" id="{1B381516-326A-4BE9-9E6D-877542A180E0}"/>
              </a:ext>
            </a:extLst>
          </p:cNvPr>
          <p:cNvSpPr>
            <a:spLocks noGrp="1"/>
          </p:cNvSpPr>
          <p:nvPr/>
        </p:nvSpPr>
        <p:spPr>
          <a:xfrm>
            <a:off x="666750" y="4562474"/>
            <a:ext cx="66675" cy="66675"/>
          </a:xfrm>
          <a:prstGeom prst="rect">
            <a:avLst/>
          </a:prstGeom>
          <a:solidFill>
            <a:srgbClr val="2C6E63"/>
          </a:solidFill>
          <a:ln w="0">
            <a:noFill/>
            <a:prstDash val="solid"/>
          </a:ln>
        </p:spPr>
        <p:txBody>
          <a:bodyPr/>
          <a:lstStyle/>
          <a:p>
            <a:endParaRPr lang="it-IT" noProof="0" dirty="0"/>
          </a:p>
        </p:txBody>
      </p:sp>
      <p:sp>
        <p:nvSpPr>
          <p:cNvPr id="14" name="Rettangolo 13">
            <a:extLst>
              <a:ext uri="{FF2B5EF4-FFF2-40B4-BE49-F238E27FC236}">
                <a16:creationId xmlns:a16="http://schemas.microsoft.com/office/drawing/2014/main" id="{93A4A345-5636-4B69-BAB0-4A301443712E}"/>
              </a:ext>
            </a:extLst>
          </p:cNvPr>
          <p:cNvSpPr>
            <a:spLocks noGrp="1"/>
          </p:cNvSpPr>
          <p:nvPr/>
        </p:nvSpPr>
        <p:spPr>
          <a:xfrm>
            <a:off x="876300" y="4495799"/>
            <a:ext cx="464820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Soddisfazione: riflette soprattutto la performance</a:t>
            </a:r>
          </a:p>
        </p:txBody>
      </p:sp>
      <p:sp>
        <p:nvSpPr>
          <p:cNvPr id="15" name="Rettangolo 14">
            <a:extLst>
              <a:ext uri="{FF2B5EF4-FFF2-40B4-BE49-F238E27FC236}">
                <a16:creationId xmlns:a16="http://schemas.microsoft.com/office/drawing/2014/main" id="{DE745D51-E4AC-414B-BAB1-511A98DCF5BD}"/>
              </a:ext>
            </a:extLst>
          </p:cNvPr>
          <p:cNvSpPr>
            <a:spLocks noGrp="1"/>
          </p:cNvSpPr>
          <p:nvPr/>
        </p:nvSpPr>
        <p:spPr>
          <a:xfrm>
            <a:off x="876300" y="4705349"/>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t>La media voti è il principale segnale osservato; ma il basso R2 suggerisce l’influenza di variabili al di fuori del questionario</a:t>
            </a:r>
            <a:endParaRPr lang="it-IT" sz="1200" b="0" noProof="0" dirty="0">
              <a:highlight>
                <a:srgbClr val="FFFF00"/>
              </a:highlight>
            </a:endParaRPr>
          </a:p>
        </p:txBody>
      </p:sp>
      <p:sp>
        <p:nvSpPr>
          <p:cNvPr id="23" name="Rettangolo 22">
            <a:extLst>
              <a:ext uri="{FF2B5EF4-FFF2-40B4-BE49-F238E27FC236}">
                <a16:creationId xmlns:a16="http://schemas.microsoft.com/office/drawing/2014/main" id="{40FDA605-5F94-D29F-970F-E5C01E480F67}"/>
              </a:ext>
            </a:extLst>
          </p:cNvPr>
          <p:cNvSpPr>
            <a:spLocks noGrp="1"/>
          </p:cNvSpPr>
          <p:nvPr/>
        </p:nvSpPr>
        <p:spPr>
          <a:xfrm>
            <a:off x="552450" y="533400"/>
            <a:ext cx="10906125" cy="685800"/>
          </a:xfrm>
          <a:prstGeom prst="rect">
            <a:avLst/>
          </a:prstGeom>
          <a:noFill/>
          <a:ln w="0">
            <a:noFill/>
            <a:prstDash val="solid"/>
          </a:ln>
        </p:spPr>
        <p:txBody>
          <a:bodyPr anchor="ctr"/>
          <a:lstStyle/>
          <a:p>
            <a:pPr>
              <a:defRPr sz="2550" b="1">
                <a:solidFill>
                  <a:srgbClr val="10243E"/>
                </a:solidFill>
              </a:defRPr>
            </a:pPr>
            <a:r>
              <a:rPr lang="it-IT" sz="2550" b="1" noProof="0" dirty="0">
                <a:solidFill>
                  <a:srgbClr val="10243E"/>
                </a:solidFill>
              </a:rPr>
              <a:t>Regressione multipla e principali insights</a:t>
            </a:r>
          </a:p>
        </p:txBody>
      </p:sp>
      <p:sp>
        <p:nvSpPr>
          <p:cNvPr id="24" name="Rettangolo 23">
            <a:extLst>
              <a:ext uri="{FF2B5EF4-FFF2-40B4-BE49-F238E27FC236}">
                <a16:creationId xmlns:a16="http://schemas.microsoft.com/office/drawing/2014/main" id="{58B07EEA-41BA-FAD4-CD9B-55566BDF8CED}"/>
              </a:ext>
            </a:extLst>
          </p:cNvPr>
          <p:cNvSpPr>
            <a:spLocks noGrp="1"/>
          </p:cNvSpPr>
          <p:nvPr/>
        </p:nvSpPr>
        <p:spPr>
          <a:xfrm>
            <a:off x="533400" y="1900236"/>
            <a:ext cx="4095750" cy="304800"/>
          </a:xfrm>
          <a:prstGeom prst="rect">
            <a:avLst/>
          </a:prstGeom>
          <a:noFill/>
          <a:ln w="0">
            <a:noFill/>
            <a:prstDash val="solid"/>
          </a:ln>
        </p:spPr>
        <p:txBody>
          <a:bodyPr anchor="ctr"/>
          <a:lstStyle/>
          <a:p>
            <a:pPr algn="l">
              <a:defRPr sz="1425" b="1">
                <a:solidFill>
                  <a:srgbClr val="B5122B"/>
                </a:solidFill>
              </a:defRPr>
            </a:pPr>
            <a:r>
              <a:rPr lang="it-IT" sz="1425" b="1" noProof="0" dirty="0">
                <a:solidFill>
                  <a:srgbClr val="0046AD"/>
                </a:solidFill>
              </a:rPr>
              <a:t>Insights chiave:</a:t>
            </a:r>
          </a:p>
        </p:txBody>
      </p:sp>
      <p:sp>
        <p:nvSpPr>
          <p:cNvPr id="28" name="CasellaDiTesto 27">
            <a:extLst>
              <a:ext uri="{FF2B5EF4-FFF2-40B4-BE49-F238E27FC236}">
                <a16:creationId xmlns:a16="http://schemas.microsoft.com/office/drawing/2014/main" id="{AAFD1640-A950-D211-8FCD-0F17D9F57707}"/>
              </a:ext>
            </a:extLst>
          </p:cNvPr>
          <p:cNvSpPr txBox="1"/>
          <p:nvPr/>
        </p:nvSpPr>
        <p:spPr>
          <a:xfrm>
            <a:off x="552450" y="1081413"/>
            <a:ext cx="11344275" cy="523220"/>
          </a:xfrm>
          <a:prstGeom prst="rect">
            <a:avLst/>
          </a:prstGeom>
          <a:noFill/>
        </p:spPr>
        <p:txBody>
          <a:bodyPr wrap="square" rtlCol="0">
            <a:spAutoFit/>
          </a:bodyPr>
          <a:lstStyle/>
          <a:p>
            <a:r>
              <a:rPr lang="it-IT" sz="1400" noProof="0" dirty="0"/>
              <a:t>Dopo aver selezionato le relazioni più interessanti, queste sono state inserite in regressioni lineari multiple come variabili indipendenti, in modo da scoprire le vere correlazioni tenendo costanti gli altri fattori che influenzano le risposte</a:t>
            </a:r>
          </a:p>
        </p:txBody>
      </p:sp>
      <p:sp>
        <p:nvSpPr>
          <p:cNvPr id="29" name="Rettangolo 28">
            <a:extLst>
              <a:ext uri="{FF2B5EF4-FFF2-40B4-BE49-F238E27FC236}">
                <a16:creationId xmlns:a16="http://schemas.microsoft.com/office/drawing/2014/main" id="{67B025AF-B42A-DB56-A8A2-35DE288306D6}"/>
              </a:ext>
            </a:extLst>
          </p:cNvPr>
          <p:cNvSpPr>
            <a:spLocks noGrp="1"/>
          </p:cNvSpPr>
          <p:nvPr/>
        </p:nvSpPr>
        <p:spPr>
          <a:xfrm>
            <a:off x="685800" y="5272087"/>
            <a:ext cx="66675" cy="66675"/>
          </a:xfrm>
          <a:prstGeom prst="rect">
            <a:avLst/>
          </a:prstGeom>
          <a:solidFill>
            <a:srgbClr val="2C6E63"/>
          </a:solidFill>
          <a:ln w="0">
            <a:noFill/>
            <a:prstDash val="solid"/>
          </a:ln>
        </p:spPr>
        <p:txBody>
          <a:bodyPr/>
          <a:lstStyle/>
          <a:p>
            <a:endParaRPr lang="it-IT" noProof="0" dirty="0"/>
          </a:p>
        </p:txBody>
      </p:sp>
      <p:sp>
        <p:nvSpPr>
          <p:cNvPr id="30" name="Rettangolo 29">
            <a:extLst>
              <a:ext uri="{FF2B5EF4-FFF2-40B4-BE49-F238E27FC236}">
                <a16:creationId xmlns:a16="http://schemas.microsoft.com/office/drawing/2014/main" id="{E1EAE022-AF8A-42C8-F6A7-56ED5473CD6A}"/>
              </a:ext>
            </a:extLst>
          </p:cNvPr>
          <p:cNvSpPr>
            <a:spLocks noGrp="1"/>
          </p:cNvSpPr>
          <p:nvPr/>
        </p:nvSpPr>
        <p:spPr>
          <a:xfrm>
            <a:off x="895350" y="5205412"/>
            <a:ext cx="464820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Carico gestibile: variabili non </a:t>
            </a:r>
            <a:r>
              <a:rPr lang="it-IT" sz="1350" b="1" noProof="0" dirty="0" err="1">
                <a:solidFill>
                  <a:srgbClr val="0046AD"/>
                </a:solidFill>
              </a:rPr>
              <a:t>suffiecienti</a:t>
            </a:r>
            <a:endParaRPr lang="it-IT" sz="1350" b="1" noProof="0" dirty="0">
              <a:solidFill>
                <a:srgbClr val="0046AD"/>
              </a:solidFill>
            </a:endParaRPr>
          </a:p>
        </p:txBody>
      </p:sp>
      <p:sp>
        <p:nvSpPr>
          <p:cNvPr id="31" name="Rettangolo 30">
            <a:extLst>
              <a:ext uri="{FF2B5EF4-FFF2-40B4-BE49-F238E27FC236}">
                <a16:creationId xmlns:a16="http://schemas.microsoft.com/office/drawing/2014/main" id="{C6540836-CB03-F0F2-8B88-4F2565D2B6BA}"/>
              </a:ext>
            </a:extLst>
          </p:cNvPr>
          <p:cNvSpPr>
            <a:spLocks noGrp="1"/>
          </p:cNvSpPr>
          <p:nvPr/>
        </p:nvSpPr>
        <p:spPr>
          <a:xfrm>
            <a:off x="895350" y="5491162"/>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t>L’R2 risulta essere molto basso, possibilmente la percezione della gestibilità del carico di lavoro è influenzato da troppe variabili non presenti nel questionario.</a:t>
            </a:r>
          </a:p>
        </p:txBody>
      </p:sp>
      <p:sp>
        <p:nvSpPr>
          <p:cNvPr id="35" name="Rettangolo 34">
            <a:extLst>
              <a:ext uri="{FF2B5EF4-FFF2-40B4-BE49-F238E27FC236}">
                <a16:creationId xmlns:a16="http://schemas.microsoft.com/office/drawing/2014/main" id="{06B3F9BD-6A2A-9D32-73AA-E934CED88FEF}"/>
              </a:ext>
            </a:extLst>
          </p:cNvPr>
          <p:cNvSpPr>
            <a:spLocks noGrp="1"/>
          </p:cNvSpPr>
          <p:nvPr/>
        </p:nvSpPr>
        <p:spPr>
          <a:xfrm>
            <a:off x="6657975" y="1809752"/>
            <a:ext cx="4095750" cy="304800"/>
          </a:xfrm>
          <a:prstGeom prst="rect">
            <a:avLst/>
          </a:prstGeom>
          <a:noFill/>
          <a:ln w="0">
            <a:noFill/>
            <a:prstDash val="solid"/>
          </a:ln>
        </p:spPr>
        <p:txBody>
          <a:bodyPr anchor="ctr"/>
          <a:lstStyle/>
          <a:p>
            <a:pPr algn="l">
              <a:defRPr sz="1425" b="1">
                <a:solidFill>
                  <a:srgbClr val="B5122B"/>
                </a:solidFill>
              </a:defRPr>
            </a:pPr>
            <a:r>
              <a:rPr lang="it-IT" sz="1425" b="1" noProof="0" dirty="0">
                <a:solidFill>
                  <a:srgbClr val="0046AD"/>
                </a:solidFill>
              </a:rPr>
              <a:t>Dove si concentrano le difficoltà principali?</a:t>
            </a:r>
          </a:p>
        </p:txBody>
      </p:sp>
      <p:sp>
        <p:nvSpPr>
          <p:cNvPr id="36" name="CasellaDiTesto 35">
            <a:extLst>
              <a:ext uri="{FF2B5EF4-FFF2-40B4-BE49-F238E27FC236}">
                <a16:creationId xmlns:a16="http://schemas.microsoft.com/office/drawing/2014/main" id="{39540423-29AB-326E-4996-F3E3990A7154}"/>
              </a:ext>
            </a:extLst>
          </p:cNvPr>
          <p:cNvSpPr txBox="1"/>
          <p:nvPr/>
        </p:nvSpPr>
        <p:spPr>
          <a:xfrm>
            <a:off x="6657975" y="3295650"/>
            <a:ext cx="5000625" cy="1754326"/>
          </a:xfrm>
          <a:prstGeom prst="rect">
            <a:avLst/>
          </a:prstGeom>
          <a:noFill/>
        </p:spPr>
        <p:txBody>
          <a:bodyPr wrap="square" rtlCol="0">
            <a:spAutoFit/>
          </a:bodyPr>
          <a:lstStyle/>
          <a:p>
            <a:pPr marL="285750" indent="-285750">
              <a:buFont typeface="Arial" panose="020B0604020202020204" pitchFamily="34" charset="0"/>
              <a:buChar char="•"/>
            </a:pPr>
            <a:r>
              <a:rPr lang="it-IT" noProof="0" dirty="0">
                <a:solidFill>
                  <a:schemeClr val="bg1"/>
                </a:solidFill>
              </a:rPr>
              <a:t>Gli studenti che sentono la pressione economica mostrano un benessere inferiore</a:t>
            </a:r>
          </a:p>
          <a:p>
            <a:pPr marL="285750" indent="-285750">
              <a:buFont typeface="Arial" panose="020B0604020202020204" pitchFamily="34" charset="0"/>
              <a:buChar char="•"/>
            </a:pPr>
            <a:r>
              <a:rPr lang="it-IT" noProof="0" dirty="0">
                <a:solidFill>
                  <a:schemeClr val="bg1"/>
                </a:solidFill>
              </a:rPr>
              <a:t>Gli studenti internazionali e chi fa il pendolare hanno un mino senso di appartenenza</a:t>
            </a:r>
          </a:p>
          <a:p>
            <a:pPr marL="285750" indent="-285750">
              <a:buFont typeface="Arial" panose="020B0604020202020204" pitchFamily="34" charset="0"/>
              <a:buChar char="•"/>
            </a:pPr>
            <a:r>
              <a:rPr lang="it-IT" dirty="0">
                <a:solidFill>
                  <a:schemeClr val="bg1"/>
                </a:solidFill>
              </a:rPr>
              <a:t>La soddisfazione e la gestibilità dei carichi sono difficili da spiegare con le variabili disponibili</a:t>
            </a:r>
            <a:endParaRPr lang="it-IT" noProof="0" dirty="0">
              <a:solidFill>
                <a:schemeClr val="bg1"/>
              </a:solidFill>
            </a:endParaRPr>
          </a:p>
        </p:txBody>
      </p:sp>
    </p:spTree>
    <p:extLst>
      <p:ext uri="{BB962C8B-B14F-4D97-AF65-F5344CB8AC3E}">
        <p14:creationId xmlns:p14="http://schemas.microsoft.com/office/powerpoint/2010/main" val="329600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0607174A-EB56-4824-B2ED-D98B48C91FA0}"/>
              </a:ext>
            </a:extLst>
          </p:cNvPr>
          <p:cNvSpPr>
            <a:spLocks noGrp="1"/>
          </p:cNvSpPr>
          <p:nvPr/>
        </p:nvSpPr>
        <p:spPr>
          <a:xfrm>
            <a:off x="0" y="0"/>
            <a:ext cx="142875" cy="6858000"/>
          </a:xfrm>
          <a:prstGeom prst="rect">
            <a:avLst/>
          </a:prstGeom>
          <a:solidFill>
            <a:srgbClr val="0046AD"/>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3B93DC91-AE1C-49A6-9BC1-1D3AC21634C0}"/>
              </a:ext>
            </a:extLst>
          </p:cNvPr>
          <p:cNvSpPr>
            <a:spLocks noGrp="1"/>
          </p:cNvSpPr>
          <p:nvPr/>
        </p:nvSpPr>
        <p:spPr>
          <a:xfrm>
            <a:off x="552450" y="304800"/>
            <a:ext cx="5715000" cy="228600"/>
          </a:xfrm>
          <a:prstGeom prst="rect">
            <a:avLst/>
          </a:prstGeom>
          <a:noFill/>
          <a:ln w="0">
            <a:noFill/>
            <a:prstDash val="solid"/>
          </a:ln>
        </p:spPr>
        <p:txBody>
          <a:bodyPr anchor="ctr"/>
          <a:lstStyle/>
          <a:p>
            <a:pPr algn="l">
              <a:defRPr sz="975" b="1">
                <a:solidFill>
                  <a:srgbClr val="B5122B"/>
                </a:solidFill>
              </a:defRPr>
            </a:pPr>
            <a:r>
              <a:rPr lang="it-IT" sz="1100" b="1" noProof="0" dirty="0">
                <a:solidFill>
                  <a:srgbClr val="0046AD"/>
                </a:solidFill>
              </a:rPr>
              <a:t>RISPOSTE APERTE</a:t>
            </a:r>
          </a:p>
        </p:txBody>
      </p:sp>
      <p:sp>
        <p:nvSpPr>
          <p:cNvPr id="3" name="Rettangolo 2">
            <a:extLst>
              <a:ext uri="{FF2B5EF4-FFF2-40B4-BE49-F238E27FC236}">
                <a16:creationId xmlns:a16="http://schemas.microsoft.com/office/drawing/2014/main" id="{2788A1F7-873B-4898-8A87-3C7FD3C243B2}"/>
              </a:ext>
            </a:extLst>
          </p:cNvPr>
          <p:cNvSpPr>
            <a:spLocks noGrp="1"/>
          </p:cNvSpPr>
          <p:nvPr/>
        </p:nvSpPr>
        <p:spPr>
          <a:xfrm>
            <a:off x="552450" y="628650"/>
            <a:ext cx="10906125" cy="685800"/>
          </a:xfrm>
          <a:prstGeom prst="rect">
            <a:avLst/>
          </a:prstGeom>
          <a:noFill/>
          <a:ln w="0">
            <a:noFill/>
            <a:prstDash val="solid"/>
          </a:ln>
        </p:spPr>
        <p:txBody>
          <a:bodyPr anchor="ctr"/>
          <a:lstStyle/>
          <a:p>
            <a:pPr algn="l">
              <a:defRPr sz="2550" b="1">
                <a:solidFill>
                  <a:srgbClr val="10243E"/>
                </a:solidFill>
              </a:defRPr>
            </a:pPr>
            <a:endParaRPr lang="it-IT" sz="2550" b="1" noProof="0" dirty="0">
              <a:solidFill>
                <a:srgbClr val="0046AD"/>
              </a:solidFill>
            </a:endParaRPr>
          </a:p>
        </p:txBody>
      </p:sp>
      <p:sp>
        <p:nvSpPr>
          <p:cNvPr id="5" name="Rettangolo 4">
            <a:extLst>
              <a:ext uri="{FF2B5EF4-FFF2-40B4-BE49-F238E27FC236}">
                <a16:creationId xmlns:a16="http://schemas.microsoft.com/office/drawing/2014/main" id="{89FC59D4-BD30-48FB-B891-557388198896}"/>
              </a:ext>
            </a:extLst>
          </p:cNvPr>
          <p:cNvSpPr>
            <a:spLocks noGrp="1"/>
          </p:cNvSpPr>
          <p:nvPr/>
        </p:nvSpPr>
        <p:spPr>
          <a:xfrm>
            <a:off x="11001375" y="6391275"/>
            <a:ext cx="457200" cy="171450"/>
          </a:xfrm>
          <a:prstGeom prst="rect">
            <a:avLst/>
          </a:prstGeom>
          <a:noFill/>
          <a:ln w="0">
            <a:noFill/>
            <a:prstDash val="solid"/>
          </a:ln>
        </p:spPr>
        <p:txBody>
          <a:bodyPr anchor="ctr"/>
          <a:lstStyle/>
          <a:p>
            <a:pPr algn="r">
              <a:defRPr sz="900" b="1">
                <a:solidFill>
                  <a:srgbClr val="66717F"/>
                </a:solidFill>
              </a:defRPr>
            </a:pPr>
            <a:r>
              <a:rPr lang="it-IT" sz="900" b="1" noProof="0" dirty="0">
                <a:solidFill>
                  <a:srgbClr val="66717F"/>
                </a:solidFill>
              </a:rPr>
              <a:t>04</a:t>
            </a:r>
          </a:p>
        </p:txBody>
      </p:sp>
      <p:sp>
        <p:nvSpPr>
          <p:cNvPr id="6" name="Rettangolo 5">
            <a:extLst>
              <a:ext uri="{FF2B5EF4-FFF2-40B4-BE49-F238E27FC236}">
                <a16:creationId xmlns:a16="http://schemas.microsoft.com/office/drawing/2014/main" id="{939DBBBB-BB3D-4526-AA0B-78CC8D092737}"/>
              </a:ext>
            </a:extLst>
          </p:cNvPr>
          <p:cNvSpPr>
            <a:spLocks noGrp="1"/>
          </p:cNvSpPr>
          <p:nvPr/>
        </p:nvSpPr>
        <p:spPr>
          <a:xfrm>
            <a:off x="552450" y="6391275"/>
            <a:ext cx="4953000" cy="171450"/>
          </a:xfrm>
          <a:prstGeom prst="rect">
            <a:avLst/>
          </a:prstGeom>
          <a:noFill/>
          <a:ln w="0">
            <a:noFill/>
            <a:prstDash val="solid"/>
          </a:ln>
        </p:spPr>
        <p:txBody>
          <a:bodyPr anchor="ctr"/>
          <a:lstStyle/>
          <a:p>
            <a:pPr algn="l">
              <a:defRPr sz="900" b="0">
                <a:solidFill>
                  <a:srgbClr val="66717F"/>
                </a:solidFill>
              </a:defRPr>
            </a:pPr>
            <a:r>
              <a:rPr lang="it-IT" sz="900" b="0" noProof="0" dirty="0">
                <a:solidFill>
                  <a:srgbClr val="66717F"/>
                </a:solidFill>
              </a:rPr>
              <a:t>Survey esperienza studentesca · 1.075 rispondenti</a:t>
            </a:r>
          </a:p>
        </p:txBody>
      </p:sp>
      <p:sp>
        <p:nvSpPr>
          <p:cNvPr id="7" name="Rettangolo 6">
            <a:extLst>
              <a:ext uri="{FF2B5EF4-FFF2-40B4-BE49-F238E27FC236}">
                <a16:creationId xmlns:a16="http://schemas.microsoft.com/office/drawing/2014/main" id="{91B4EF22-F56E-4DC4-BBC9-0D52E43F0161}"/>
              </a:ext>
            </a:extLst>
          </p:cNvPr>
          <p:cNvSpPr>
            <a:spLocks noGrp="1"/>
          </p:cNvSpPr>
          <p:nvPr/>
        </p:nvSpPr>
        <p:spPr>
          <a:xfrm>
            <a:off x="666750" y="1809750"/>
            <a:ext cx="2905125" cy="495300"/>
          </a:xfrm>
          <a:prstGeom prst="rect">
            <a:avLst/>
          </a:prstGeom>
          <a:noFill/>
          <a:ln w="0">
            <a:noFill/>
            <a:prstDash val="solid"/>
          </a:ln>
        </p:spPr>
        <p:txBody>
          <a:bodyPr anchor="ctr"/>
          <a:lstStyle/>
          <a:p>
            <a:pPr algn="l">
              <a:defRPr sz="2925" b="1">
                <a:solidFill>
                  <a:srgbClr val="B5122B"/>
                </a:solidFill>
              </a:defRPr>
            </a:pPr>
            <a:r>
              <a:rPr lang="it-IT" sz="2925" b="1" noProof="0" dirty="0">
                <a:solidFill>
                  <a:srgbClr val="0046AD"/>
                </a:solidFill>
              </a:rPr>
              <a:t>101</a:t>
            </a:r>
          </a:p>
        </p:txBody>
      </p:sp>
      <p:sp>
        <p:nvSpPr>
          <p:cNvPr id="8" name="Rettangolo 7">
            <a:extLst>
              <a:ext uri="{FF2B5EF4-FFF2-40B4-BE49-F238E27FC236}">
                <a16:creationId xmlns:a16="http://schemas.microsoft.com/office/drawing/2014/main" id="{226DC15D-B83E-4854-85B3-189DBD268949}"/>
              </a:ext>
            </a:extLst>
          </p:cNvPr>
          <p:cNvSpPr>
            <a:spLocks noGrp="1"/>
          </p:cNvSpPr>
          <p:nvPr/>
        </p:nvSpPr>
        <p:spPr>
          <a:xfrm>
            <a:off x="666750" y="2314575"/>
            <a:ext cx="2905125"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studenti citano socialità o appartenenza</a:t>
            </a:r>
          </a:p>
        </p:txBody>
      </p:sp>
      <p:sp>
        <p:nvSpPr>
          <p:cNvPr id="9" name="Rettangolo 8">
            <a:extLst>
              <a:ext uri="{FF2B5EF4-FFF2-40B4-BE49-F238E27FC236}">
                <a16:creationId xmlns:a16="http://schemas.microsoft.com/office/drawing/2014/main" id="{88C1F031-261D-43EF-96E7-8DC7AF131FC5}"/>
              </a:ext>
            </a:extLst>
          </p:cNvPr>
          <p:cNvSpPr>
            <a:spLocks noGrp="1"/>
          </p:cNvSpPr>
          <p:nvPr/>
        </p:nvSpPr>
        <p:spPr>
          <a:xfrm>
            <a:off x="3857625" y="1809750"/>
            <a:ext cx="2571750" cy="495300"/>
          </a:xfrm>
          <a:prstGeom prst="rect">
            <a:avLst/>
          </a:prstGeom>
          <a:noFill/>
          <a:ln w="0">
            <a:noFill/>
            <a:prstDash val="solid"/>
          </a:ln>
        </p:spPr>
        <p:txBody>
          <a:bodyPr anchor="ctr"/>
          <a:lstStyle/>
          <a:p>
            <a:pPr algn="l">
              <a:defRPr sz="2925" b="1">
                <a:solidFill>
                  <a:srgbClr val="B56A19"/>
                </a:solidFill>
              </a:defRPr>
            </a:pPr>
            <a:r>
              <a:rPr lang="it-IT" sz="2925" b="1" noProof="0" dirty="0">
                <a:solidFill>
                  <a:srgbClr val="0046AD"/>
                </a:solidFill>
              </a:rPr>
              <a:t>51</a:t>
            </a:r>
          </a:p>
        </p:txBody>
      </p:sp>
      <p:sp>
        <p:nvSpPr>
          <p:cNvPr id="10" name="Rettangolo 9">
            <a:extLst>
              <a:ext uri="{FF2B5EF4-FFF2-40B4-BE49-F238E27FC236}">
                <a16:creationId xmlns:a16="http://schemas.microsoft.com/office/drawing/2014/main" id="{D9FBBBDE-BA0B-41A9-9952-FC6D9E3DDE01}"/>
              </a:ext>
            </a:extLst>
          </p:cNvPr>
          <p:cNvSpPr>
            <a:spLocks noGrp="1"/>
          </p:cNvSpPr>
          <p:nvPr/>
        </p:nvSpPr>
        <p:spPr>
          <a:xfrm>
            <a:off x="3857625" y="2314575"/>
            <a:ext cx="2571750"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sono studenti internazionali</a:t>
            </a:r>
          </a:p>
        </p:txBody>
      </p:sp>
      <p:sp>
        <p:nvSpPr>
          <p:cNvPr id="11" name="Rettangolo 10">
            <a:extLst>
              <a:ext uri="{FF2B5EF4-FFF2-40B4-BE49-F238E27FC236}">
                <a16:creationId xmlns:a16="http://schemas.microsoft.com/office/drawing/2014/main" id="{E0B4D92C-97D4-430E-9125-2F74A953A428}"/>
              </a:ext>
            </a:extLst>
          </p:cNvPr>
          <p:cNvSpPr>
            <a:spLocks noGrp="1"/>
          </p:cNvSpPr>
          <p:nvPr/>
        </p:nvSpPr>
        <p:spPr>
          <a:xfrm>
            <a:off x="6858000" y="1809750"/>
            <a:ext cx="3048000" cy="495300"/>
          </a:xfrm>
          <a:prstGeom prst="rect">
            <a:avLst/>
          </a:prstGeom>
          <a:noFill/>
          <a:ln w="0">
            <a:noFill/>
            <a:prstDash val="solid"/>
          </a:ln>
        </p:spPr>
        <p:txBody>
          <a:bodyPr anchor="ctr"/>
          <a:lstStyle/>
          <a:p>
            <a:pPr algn="l">
              <a:defRPr sz="2925" b="1">
                <a:solidFill>
                  <a:srgbClr val="B5122B"/>
                </a:solidFill>
              </a:defRPr>
            </a:pPr>
            <a:r>
              <a:rPr lang="it-IT" sz="2925" b="1" noProof="0" dirty="0">
                <a:solidFill>
                  <a:srgbClr val="0046AD"/>
                </a:solidFill>
              </a:rPr>
              <a:t>5,3</a:t>
            </a:r>
          </a:p>
        </p:txBody>
      </p:sp>
      <p:sp>
        <p:nvSpPr>
          <p:cNvPr id="12" name="Rettangolo 11">
            <a:extLst>
              <a:ext uri="{FF2B5EF4-FFF2-40B4-BE49-F238E27FC236}">
                <a16:creationId xmlns:a16="http://schemas.microsoft.com/office/drawing/2014/main" id="{AE51E3BA-1167-430E-A6B5-33AC320B1001}"/>
              </a:ext>
            </a:extLst>
          </p:cNvPr>
          <p:cNvSpPr>
            <a:spLocks noGrp="1"/>
          </p:cNvSpPr>
          <p:nvPr/>
        </p:nvSpPr>
        <p:spPr>
          <a:xfrm>
            <a:off x="6858000" y="2314575"/>
            <a:ext cx="3048000" cy="457200"/>
          </a:xfrm>
          <a:prstGeom prst="rect">
            <a:avLst/>
          </a:prstGeom>
          <a:noFill/>
          <a:ln w="0">
            <a:noFill/>
            <a:prstDash val="solid"/>
          </a:ln>
        </p:spPr>
        <p:txBody>
          <a:bodyPr anchor="ctr"/>
          <a:lstStyle/>
          <a:p>
            <a:pPr algn="l">
              <a:defRPr sz="1125" b="0">
                <a:solidFill>
                  <a:srgbClr val="66717F"/>
                </a:solidFill>
              </a:defRPr>
            </a:pPr>
            <a:r>
              <a:rPr lang="it-IT" sz="1100" b="0" noProof="0" dirty="0">
                <a:solidFill>
                  <a:srgbClr val="66717F"/>
                </a:solidFill>
              </a:rPr>
              <a:t>appartenenza media nel gruppo</a:t>
            </a:r>
          </a:p>
          <a:p>
            <a:pPr algn="l">
              <a:defRPr sz="1125" b="0">
                <a:solidFill>
                  <a:srgbClr val="66717F"/>
                </a:solidFill>
              </a:defRPr>
            </a:pPr>
            <a:r>
              <a:rPr lang="it-IT" sz="1100" b="0" noProof="0" dirty="0">
                <a:solidFill>
                  <a:srgbClr val="66717F"/>
                </a:solidFill>
              </a:rPr>
              <a:t>vs 6,0 nel campione</a:t>
            </a:r>
          </a:p>
        </p:txBody>
      </p:sp>
      <p:sp>
        <p:nvSpPr>
          <p:cNvPr id="13" name="Rettangolo 12">
            <a:extLst>
              <a:ext uri="{FF2B5EF4-FFF2-40B4-BE49-F238E27FC236}">
                <a16:creationId xmlns:a16="http://schemas.microsoft.com/office/drawing/2014/main" id="{1A10F0F3-BFBB-435E-BB77-965D7C53794B}"/>
              </a:ext>
            </a:extLst>
          </p:cNvPr>
          <p:cNvSpPr>
            <a:spLocks noGrp="1"/>
          </p:cNvSpPr>
          <p:nvPr/>
        </p:nvSpPr>
        <p:spPr>
          <a:xfrm>
            <a:off x="666750" y="3143250"/>
            <a:ext cx="10287000" cy="19050"/>
          </a:xfrm>
          <a:prstGeom prst="rect">
            <a:avLst/>
          </a:prstGeom>
          <a:solidFill>
            <a:srgbClr val="0046AD"/>
          </a:solidFill>
          <a:ln w="0">
            <a:noFill/>
            <a:prstDash val="solid"/>
          </a:ln>
        </p:spPr>
        <p:txBody>
          <a:bodyPr/>
          <a:lstStyle/>
          <a:p>
            <a:endParaRPr lang="it-IT" noProof="0" dirty="0"/>
          </a:p>
        </p:txBody>
      </p:sp>
      <p:sp>
        <p:nvSpPr>
          <p:cNvPr id="14" name="Rettangolo 13">
            <a:extLst>
              <a:ext uri="{FF2B5EF4-FFF2-40B4-BE49-F238E27FC236}">
                <a16:creationId xmlns:a16="http://schemas.microsoft.com/office/drawing/2014/main" id="{25E0F1FE-222F-4C2E-999E-EADED249D741}"/>
              </a:ext>
            </a:extLst>
          </p:cNvPr>
          <p:cNvSpPr>
            <a:spLocks noGrp="1"/>
          </p:cNvSpPr>
          <p:nvPr/>
        </p:nvSpPr>
        <p:spPr>
          <a:xfrm>
            <a:off x="666750" y="3448050"/>
            <a:ext cx="3333750" cy="285750"/>
          </a:xfrm>
          <a:prstGeom prst="rect">
            <a:avLst/>
          </a:prstGeom>
          <a:noFill/>
          <a:ln w="0">
            <a:noFill/>
            <a:prstDash val="solid"/>
          </a:ln>
        </p:spPr>
        <p:txBody>
          <a:bodyPr anchor="ctr"/>
          <a:lstStyle/>
          <a:p>
            <a:pPr algn="l">
              <a:defRPr sz="1500" b="1">
                <a:solidFill>
                  <a:srgbClr val="10243E"/>
                </a:solidFill>
              </a:defRPr>
            </a:pPr>
            <a:r>
              <a:rPr lang="it-IT" sz="1500" b="1" noProof="0" dirty="0">
                <a:solidFill>
                  <a:srgbClr val="0046AD"/>
                </a:solidFill>
              </a:rPr>
              <a:t>Cosa aggiungono le parole:</a:t>
            </a:r>
          </a:p>
        </p:txBody>
      </p:sp>
      <p:sp>
        <p:nvSpPr>
          <p:cNvPr id="15" name="Rettangolo 14">
            <a:extLst>
              <a:ext uri="{FF2B5EF4-FFF2-40B4-BE49-F238E27FC236}">
                <a16:creationId xmlns:a16="http://schemas.microsoft.com/office/drawing/2014/main" id="{ACBF21FC-E331-48F2-885E-EC0F59E65230}"/>
              </a:ext>
            </a:extLst>
          </p:cNvPr>
          <p:cNvSpPr>
            <a:spLocks noGrp="1"/>
          </p:cNvSpPr>
          <p:nvPr/>
        </p:nvSpPr>
        <p:spPr>
          <a:xfrm>
            <a:off x="666750" y="4019550"/>
            <a:ext cx="66675" cy="66675"/>
          </a:xfrm>
          <a:prstGeom prst="rect">
            <a:avLst/>
          </a:prstGeom>
          <a:solidFill>
            <a:srgbClr val="0046AD"/>
          </a:solidFill>
          <a:ln w="0">
            <a:noFill/>
            <a:prstDash val="solid"/>
          </a:ln>
        </p:spPr>
        <p:txBody>
          <a:bodyPr/>
          <a:lstStyle/>
          <a:p>
            <a:endParaRPr lang="it-IT" noProof="0" dirty="0"/>
          </a:p>
        </p:txBody>
      </p:sp>
      <p:sp>
        <p:nvSpPr>
          <p:cNvPr id="16" name="Rettangolo 15">
            <a:extLst>
              <a:ext uri="{FF2B5EF4-FFF2-40B4-BE49-F238E27FC236}">
                <a16:creationId xmlns:a16="http://schemas.microsoft.com/office/drawing/2014/main" id="{D6AA4934-E751-413C-B764-2664C2B2680F}"/>
              </a:ext>
            </a:extLst>
          </p:cNvPr>
          <p:cNvSpPr>
            <a:spLocks noGrp="1"/>
          </p:cNvSpPr>
          <p:nvPr/>
        </p:nvSpPr>
        <p:spPr>
          <a:xfrm>
            <a:off x="876300" y="3905250"/>
            <a:ext cx="455295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Non è </a:t>
            </a:r>
            <a:r>
              <a:rPr lang="it-IT" sz="1400" b="1" noProof="0" dirty="0">
                <a:solidFill>
                  <a:srgbClr val="0046AD"/>
                </a:solidFill>
              </a:rPr>
              <a:t>necessariamente</a:t>
            </a:r>
            <a:r>
              <a:rPr lang="it-IT" sz="1350" b="1" noProof="0" dirty="0">
                <a:solidFill>
                  <a:srgbClr val="0046AD"/>
                </a:solidFill>
              </a:rPr>
              <a:t> esclusione esplicita</a:t>
            </a:r>
          </a:p>
        </p:txBody>
      </p:sp>
      <p:sp>
        <p:nvSpPr>
          <p:cNvPr id="17" name="Rettangolo 16">
            <a:extLst>
              <a:ext uri="{FF2B5EF4-FFF2-40B4-BE49-F238E27FC236}">
                <a16:creationId xmlns:a16="http://schemas.microsoft.com/office/drawing/2014/main" id="{87F32A4B-55FC-4773-9A64-BFB42E164103}"/>
              </a:ext>
            </a:extLst>
          </p:cNvPr>
          <p:cNvSpPr>
            <a:spLocks noGrp="1"/>
          </p:cNvSpPr>
          <p:nvPr/>
        </p:nvSpPr>
        <p:spPr>
          <a:xfrm>
            <a:off x="876300" y="4143672"/>
            <a:ext cx="4552950" cy="646331"/>
          </a:xfrm>
          <a:prstGeom prst="rect">
            <a:avLst/>
          </a:prstGeom>
          <a:noFill/>
          <a:ln w="0">
            <a:noFill/>
            <a:prstDash val="solid"/>
          </a:ln>
        </p:spPr>
        <p:txBody>
          <a:bodyPr anchor="ctr">
            <a:spAutoFit/>
          </a:bodyPr>
          <a:lstStyle/>
          <a:p>
            <a:pPr algn="l">
              <a:defRPr sz="1200" b="0">
                <a:solidFill>
                  <a:srgbClr val="66717F"/>
                </a:solidFill>
              </a:defRPr>
            </a:pPr>
            <a:r>
              <a:rPr lang="it-IT" sz="1200" dirty="0">
                <a:solidFill>
                  <a:srgbClr val="66717F"/>
                </a:solidFill>
              </a:rPr>
              <a:t>Tra gli studenti internazionali, r</a:t>
            </a:r>
            <a:r>
              <a:rPr lang="it-IT" sz="1200" b="0" noProof="0" dirty="0" err="1">
                <a:solidFill>
                  <a:srgbClr val="66717F"/>
                </a:solidFill>
              </a:rPr>
              <a:t>icorrono</a:t>
            </a:r>
            <a:r>
              <a:rPr lang="it-IT" sz="1200" b="0" noProof="0" dirty="0">
                <a:solidFill>
                  <a:srgbClr val="66717F"/>
                </a:solidFill>
              </a:rPr>
              <a:t> relazioni percepite come cordiali ma superficiali, solitudine e difficoltà a entrare in gruppi già formati.</a:t>
            </a:r>
          </a:p>
        </p:txBody>
      </p:sp>
      <p:sp>
        <p:nvSpPr>
          <p:cNvPr id="18" name="Rettangolo 17">
            <a:extLst>
              <a:ext uri="{FF2B5EF4-FFF2-40B4-BE49-F238E27FC236}">
                <a16:creationId xmlns:a16="http://schemas.microsoft.com/office/drawing/2014/main" id="{E4A90ACB-DB7D-49EB-A71E-170F502CBBCD}"/>
              </a:ext>
            </a:extLst>
          </p:cNvPr>
          <p:cNvSpPr>
            <a:spLocks noGrp="1"/>
          </p:cNvSpPr>
          <p:nvPr/>
        </p:nvSpPr>
        <p:spPr>
          <a:xfrm>
            <a:off x="5953125" y="4033837"/>
            <a:ext cx="66675" cy="66675"/>
          </a:xfrm>
          <a:prstGeom prst="rect">
            <a:avLst/>
          </a:prstGeom>
          <a:solidFill>
            <a:srgbClr val="0046AD"/>
          </a:solidFill>
          <a:ln w="0">
            <a:noFill/>
            <a:prstDash val="solid"/>
          </a:ln>
        </p:spPr>
        <p:txBody>
          <a:bodyPr/>
          <a:lstStyle/>
          <a:p>
            <a:endParaRPr lang="it-IT" noProof="0" dirty="0"/>
          </a:p>
        </p:txBody>
      </p:sp>
      <p:sp>
        <p:nvSpPr>
          <p:cNvPr id="19" name="Rettangolo 18">
            <a:extLst>
              <a:ext uri="{FF2B5EF4-FFF2-40B4-BE49-F238E27FC236}">
                <a16:creationId xmlns:a16="http://schemas.microsoft.com/office/drawing/2014/main" id="{39928B57-320B-4901-BE0F-A839DAF79D67}"/>
              </a:ext>
            </a:extLst>
          </p:cNvPr>
          <p:cNvSpPr>
            <a:spLocks noGrp="1"/>
          </p:cNvSpPr>
          <p:nvPr/>
        </p:nvSpPr>
        <p:spPr>
          <a:xfrm>
            <a:off x="6162675" y="3905250"/>
            <a:ext cx="4743450" cy="257175"/>
          </a:xfrm>
          <a:prstGeom prst="rect">
            <a:avLst/>
          </a:prstGeom>
          <a:noFill/>
          <a:ln w="0">
            <a:noFill/>
            <a:prstDash val="solid"/>
          </a:ln>
        </p:spPr>
        <p:txBody>
          <a:bodyPr anchor="ctr"/>
          <a:lstStyle/>
          <a:p>
            <a:pPr algn="l">
              <a:defRPr sz="1350" b="1">
                <a:solidFill>
                  <a:srgbClr val="17202A"/>
                </a:solidFill>
              </a:defRPr>
            </a:pPr>
            <a:r>
              <a:rPr lang="it-IT" sz="1350" b="1" noProof="0" dirty="0">
                <a:solidFill>
                  <a:srgbClr val="0046AD"/>
                </a:solidFill>
              </a:rPr>
              <a:t>Il </a:t>
            </a:r>
            <a:r>
              <a:rPr lang="it-IT" sz="1400" b="1" noProof="0" dirty="0">
                <a:solidFill>
                  <a:srgbClr val="0046AD"/>
                </a:solidFill>
              </a:rPr>
              <a:t>dato</a:t>
            </a:r>
            <a:r>
              <a:rPr lang="it-IT" sz="1350" b="1" noProof="0" dirty="0">
                <a:solidFill>
                  <a:srgbClr val="0046AD"/>
                </a:solidFill>
              </a:rPr>
              <a:t> indica una possibile direzione da seguire </a:t>
            </a:r>
          </a:p>
        </p:txBody>
      </p:sp>
      <p:sp>
        <p:nvSpPr>
          <p:cNvPr id="20" name="Rettangolo 19">
            <a:extLst>
              <a:ext uri="{FF2B5EF4-FFF2-40B4-BE49-F238E27FC236}">
                <a16:creationId xmlns:a16="http://schemas.microsoft.com/office/drawing/2014/main" id="{06C70250-2737-4D6D-9366-08D32451EC92}"/>
              </a:ext>
            </a:extLst>
          </p:cNvPr>
          <p:cNvSpPr>
            <a:spLocks noGrp="1"/>
          </p:cNvSpPr>
          <p:nvPr/>
        </p:nvSpPr>
        <p:spPr>
          <a:xfrm>
            <a:off x="6162675" y="4143672"/>
            <a:ext cx="4743450" cy="461665"/>
          </a:xfrm>
          <a:prstGeom prst="rect">
            <a:avLst/>
          </a:prstGeom>
          <a:noFill/>
          <a:ln w="0">
            <a:noFill/>
            <a:prstDash val="solid"/>
          </a:ln>
        </p:spPr>
        <p:txBody>
          <a:bodyPr anchor="ctr">
            <a:spAutoFit/>
          </a:bodyPr>
          <a:lstStyle/>
          <a:p>
            <a:pPr algn="l">
              <a:defRPr sz="1200" b="0">
                <a:solidFill>
                  <a:srgbClr val="66717F"/>
                </a:solidFill>
              </a:defRPr>
            </a:pPr>
            <a:r>
              <a:rPr lang="it-IT" sz="1200" b="0" noProof="0" dirty="0">
                <a:solidFill>
                  <a:srgbClr val="66717F"/>
                </a:solidFill>
              </a:rPr>
              <a:t>Creare occasioni ripetute e strutturate di interazione, con particolare attenzione agli studenti internazionali</a:t>
            </a:r>
            <a:r>
              <a:rPr lang="it-IT" sz="1200" dirty="0">
                <a:solidFill>
                  <a:srgbClr val="66717F"/>
                </a:solidFill>
              </a:rPr>
              <a:t> per non farli sentire esclusi</a:t>
            </a:r>
            <a:endParaRPr lang="it-IT" sz="1200" b="0" noProof="0" dirty="0">
              <a:solidFill>
                <a:srgbClr val="66717F"/>
              </a:solidFill>
            </a:endParaRPr>
          </a:p>
        </p:txBody>
      </p:sp>
      <p:sp>
        <p:nvSpPr>
          <p:cNvPr id="25" name="Rettangolo 24">
            <a:extLst>
              <a:ext uri="{FF2B5EF4-FFF2-40B4-BE49-F238E27FC236}">
                <a16:creationId xmlns:a16="http://schemas.microsoft.com/office/drawing/2014/main" id="{43023239-466D-DDC0-CDBA-949FBA058357}"/>
              </a:ext>
            </a:extLst>
          </p:cNvPr>
          <p:cNvSpPr>
            <a:spLocks noGrp="1"/>
          </p:cNvSpPr>
          <p:nvPr/>
        </p:nvSpPr>
        <p:spPr>
          <a:xfrm>
            <a:off x="552450" y="533400"/>
            <a:ext cx="10906125" cy="685800"/>
          </a:xfrm>
          <a:prstGeom prst="rect">
            <a:avLst/>
          </a:prstGeom>
          <a:noFill/>
          <a:ln w="0">
            <a:noFill/>
            <a:prstDash val="solid"/>
          </a:ln>
        </p:spPr>
        <p:txBody>
          <a:bodyPr anchor="ctr"/>
          <a:lstStyle/>
          <a:p>
            <a:pPr>
              <a:defRPr sz="2550" b="1">
                <a:solidFill>
                  <a:srgbClr val="10243E"/>
                </a:solidFill>
              </a:defRPr>
            </a:pPr>
            <a:r>
              <a:rPr lang="it-IT" sz="2550" b="1" dirty="0"/>
              <a:t>I dati qualitativi chiariscono soprattutto il problema dell’appartenenza</a:t>
            </a:r>
          </a:p>
        </p:txBody>
      </p:sp>
      <p:sp>
        <p:nvSpPr>
          <p:cNvPr id="26" name="CasellaDiTesto 25">
            <a:extLst>
              <a:ext uri="{FF2B5EF4-FFF2-40B4-BE49-F238E27FC236}">
                <a16:creationId xmlns:a16="http://schemas.microsoft.com/office/drawing/2014/main" id="{2C5FC016-B682-8F9B-76D2-BB62513ABDA5}"/>
              </a:ext>
            </a:extLst>
          </p:cNvPr>
          <p:cNvSpPr txBox="1"/>
          <p:nvPr/>
        </p:nvSpPr>
        <p:spPr>
          <a:xfrm>
            <a:off x="552450" y="1081413"/>
            <a:ext cx="11344275" cy="523220"/>
          </a:xfrm>
          <a:prstGeom prst="rect">
            <a:avLst/>
          </a:prstGeom>
          <a:noFill/>
        </p:spPr>
        <p:txBody>
          <a:bodyPr wrap="square" rtlCol="0">
            <a:spAutoFit/>
          </a:bodyPr>
          <a:lstStyle/>
          <a:p>
            <a:r>
              <a:rPr lang="it-IT" sz="1400" noProof="0" dirty="0"/>
              <a:t>L’analisi dei dati qualitativa aiuta a descrivere i problemi menzionati con l’esperienza di chi li vive. Tuttavia, solo il problema dell’appartenenza è stato direttamente mappabile alle conclusioni dell’analisi quantitativa</a:t>
            </a:r>
          </a:p>
        </p:txBody>
      </p:sp>
    </p:spTree>
    <p:extLst>
      <p:ext uri="{BB962C8B-B14F-4D97-AF65-F5344CB8AC3E}">
        <p14:creationId xmlns:p14="http://schemas.microsoft.com/office/powerpoint/2010/main" val="121293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ttangolo 22">
            <a:extLst>
              <a:ext uri="{FF2B5EF4-FFF2-40B4-BE49-F238E27FC236}">
                <a16:creationId xmlns:a16="http://schemas.microsoft.com/office/drawing/2014/main" id="{D3F87949-9F88-4BFB-B0CF-83AC0F51817D}"/>
              </a:ext>
            </a:extLst>
          </p:cNvPr>
          <p:cNvSpPr>
            <a:spLocks noGrp="1"/>
          </p:cNvSpPr>
          <p:nvPr/>
        </p:nvSpPr>
        <p:spPr>
          <a:xfrm>
            <a:off x="0" y="0"/>
            <a:ext cx="142875" cy="6858000"/>
          </a:xfrm>
          <a:prstGeom prst="rect">
            <a:avLst/>
          </a:prstGeom>
          <a:solidFill>
            <a:srgbClr val="0046AD"/>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FC1AE763-269D-46FF-AAC7-50999CDA6860}"/>
              </a:ext>
            </a:extLst>
          </p:cNvPr>
          <p:cNvSpPr>
            <a:spLocks noGrp="1"/>
          </p:cNvSpPr>
          <p:nvPr/>
        </p:nvSpPr>
        <p:spPr>
          <a:xfrm>
            <a:off x="552450" y="304800"/>
            <a:ext cx="5715000" cy="228600"/>
          </a:xfrm>
          <a:prstGeom prst="rect">
            <a:avLst/>
          </a:prstGeom>
          <a:noFill/>
          <a:ln w="0">
            <a:noFill/>
            <a:prstDash val="solid"/>
          </a:ln>
        </p:spPr>
        <p:txBody>
          <a:bodyPr anchor="ctr"/>
          <a:lstStyle/>
          <a:p>
            <a:pPr algn="l">
              <a:defRPr sz="975" b="1">
                <a:solidFill>
                  <a:srgbClr val="B5122B"/>
                </a:solidFill>
              </a:defRPr>
            </a:pPr>
            <a:r>
              <a:rPr lang="it-IT" sz="1100" b="1" noProof="0" dirty="0">
                <a:solidFill>
                  <a:srgbClr val="0046AD"/>
                </a:solidFill>
              </a:rPr>
              <a:t>LIMIT</a:t>
            </a:r>
            <a:r>
              <a:rPr lang="it-IT" sz="1100" b="1" dirty="0">
                <a:solidFill>
                  <a:srgbClr val="0046AD"/>
                </a:solidFill>
              </a:rPr>
              <a:t>AZIONI DELLA RICERCA</a:t>
            </a:r>
            <a:endParaRPr lang="it-IT" sz="1100" b="1" noProof="0" dirty="0">
              <a:solidFill>
                <a:srgbClr val="0046AD"/>
              </a:solidFill>
            </a:endParaRPr>
          </a:p>
        </p:txBody>
      </p:sp>
      <p:sp>
        <p:nvSpPr>
          <p:cNvPr id="3" name="Rettangolo 2">
            <a:extLst>
              <a:ext uri="{FF2B5EF4-FFF2-40B4-BE49-F238E27FC236}">
                <a16:creationId xmlns:a16="http://schemas.microsoft.com/office/drawing/2014/main" id="{CE303488-FC40-40C9-9C0E-8450E8CDCE89}"/>
              </a:ext>
            </a:extLst>
          </p:cNvPr>
          <p:cNvSpPr>
            <a:spLocks noGrp="1"/>
          </p:cNvSpPr>
          <p:nvPr/>
        </p:nvSpPr>
        <p:spPr>
          <a:xfrm>
            <a:off x="552450" y="628650"/>
            <a:ext cx="10906125" cy="685800"/>
          </a:xfrm>
          <a:prstGeom prst="rect">
            <a:avLst/>
          </a:prstGeom>
          <a:noFill/>
          <a:ln w="0">
            <a:noFill/>
            <a:prstDash val="solid"/>
          </a:ln>
        </p:spPr>
        <p:txBody>
          <a:bodyPr anchor="ctr"/>
          <a:lstStyle/>
          <a:p>
            <a:pPr algn="l">
              <a:defRPr sz="2550" b="1">
                <a:solidFill>
                  <a:srgbClr val="10243E"/>
                </a:solidFill>
              </a:defRPr>
            </a:pPr>
            <a:endParaRPr lang="it-IT" sz="2550" b="1" noProof="0" dirty="0">
              <a:solidFill>
                <a:srgbClr val="10243E"/>
              </a:solidFill>
            </a:endParaRPr>
          </a:p>
        </p:txBody>
      </p:sp>
      <p:sp>
        <p:nvSpPr>
          <p:cNvPr id="5" name="Rettangolo 4">
            <a:extLst>
              <a:ext uri="{FF2B5EF4-FFF2-40B4-BE49-F238E27FC236}">
                <a16:creationId xmlns:a16="http://schemas.microsoft.com/office/drawing/2014/main" id="{12A6BBE2-426B-40DA-B469-B0EEB6E40FDF}"/>
              </a:ext>
            </a:extLst>
          </p:cNvPr>
          <p:cNvSpPr>
            <a:spLocks noGrp="1"/>
          </p:cNvSpPr>
          <p:nvPr/>
        </p:nvSpPr>
        <p:spPr>
          <a:xfrm>
            <a:off x="11001375" y="6391275"/>
            <a:ext cx="457200" cy="171450"/>
          </a:xfrm>
          <a:prstGeom prst="rect">
            <a:avLst/>
          </a:prstGeom>
          <a:noFill/>
          <a:ln w="0">
            <a:noFill/>
            <a:prstDash val="solid"/>
          </a:ln>
        </p:spPr>
        <p:txBody>
          <a:bodyPr anchor="ctr"/>
          <a:lstStyle/>
          <a:p>
            <a:pPr algn="r">
              <a:defRPr sz="900" b="1">
                <a:solidFill>
                  <a:srgbClr val="66717F"/>
                </a:solidFill>
              </a:defRPr>
            </a:pPr>
            <a:r>
              <a:rPr lang="it-IT" sz="900" b="1" noProof="0" dirty="0">
                <a:solidFill>
                  <a:srgbClr val="66717F"/>
                </a:solidFill>
              </a:rPr>
              <a:t>05</a:t>
            </a:r>
          </a:p>
        </p:txBody>
      </p:sp>
      <p:sp>
        <p:nvSpPr>
          <p:cNvPr id="6" name="Rettangolo 5">
            <a:extLst>
              <a:ext uri="{FF2B5EF4-FFF2-40B4-BE49-F238E27FC236}">
                <a16:creationId xmlns:a16="http://schemas.microsoft.com/office/drawing/2014/main" id="{D01659F0-3283-405E-82B1-893736BCF100}"/>
              </a:ext>
            </a:extLst>
          </p:cNvPr>
          <p:cNvSpPr>
            <a:spLocks noGrp="1"/>
          </p:cNvSpPr>
          <p:nvPr/>
        </p:nvSpPr>
        <p:spPr>
          <a:xfrm>
            <a:off x="552450" y="6391275"/>
            <a:ext cx="4953000" cy="171450"/>
          </a:xfrm>
          <a:prstGeom prst="rect">
            <a:avLst/>
          </a:prstGeom>
          <a:noFill/>
          <a:ln w="0">
            <a:noFill/>
            <a:prstDash val="solid"/>
          </a:ln>
        </p:spPr>
        <p:txBody>
          <a:bodyPr anchor="ctr"/>
          <a:lstStyle/>
          <a:p>
            <a:pPr algn="l">
              <a:defRPr sz="900" b="0">
                <a:solidFill>
                  <a:srgbClr val="66717F"/>
                </a:solidFill>
              </a:defRPr>
            </a:pPr>
            <a:r>
              <a:rPr lang="it-IT" sz="900" b="0" noProof="0" dirty="0">
                <a:solidFill>
                  <a:srgbClr val="66717F"/>
                </a:solidFill>
              </a:rPr>
              <a:t>Survey esperienza studentesca · 1.075 rispondenti</a:t>
            </a:r>
          </a:p>
        </p:txBody>
      </p:sp>
      <p:sp>
        <p:nvSpPr>
          <p:cNvPr id="7" name="Rettangolo 6">
            <a:extLst>
              <a:ext uri="{FF2B5EF4-FFF2-40B4-BE49-F238E27FC236}">
                <a16:creationId xmlns:a16="http://schemas.microsoft.com/office/drawing/2014/main" id="{560DFED5-8075-4379-8DEB-EBF1370DB9E2}"/>
              </a:ext>
            </a:extLst>
          </p:cNvPr>
          <p:cNvSpPr>
            <a:spLocks noGrp="1"/>
          </p:cNvSpPr>
          <p:nvPr/>
        </p:nvSpPr>
        <p:spPr>
          <a:xfrm>
            <a:off x="666750" y="2348642"/>
            <a:ext cx="66675" cy="66675"/>
          </a:xfrm>
          <a:prstGeom prst="rect">
            <a:avLst/>
          </a:prstGeom>
          <a:solidFill>
            <a:srgbClr val="0046AD"/>
          </a:solidFill>
          <a:ln w="0">
            <a:noFill/>
            <a:prstDash val="solid"/>
          </a:ln>
        </p:spPr>
        <p:txBody>
          <a:bodyPr/>
          <a:lstStyle/>
          <a:p>
            <a:endParaRPr lang="it-IT" noProof="0" dirty="0"/>
          </a:p>
        </p:txBody>
      </p:sp>
      <p:sp>
        <p:nvSpPr>
          <p:cNvPr id="8" name="Rettangolo 7">
            <a:extLst>
              <a:ext uri="{FF2B5EF4-FFF2-40B4-BE49-F238E27FC236}">
                <a16:creationId xmlns:a16="http://schemas.microsoft.com/office/drawing/2014/main" id="{ED47736D-529C-4FDA-BA8A-4D97510032F7}"/>
              </a:ext>
            </a:extLst>
          </p:cNvPr>
          <p:cNvSpPr>
            <a:spLocks noGrp="1"/>
          </p:cNvSpPr>
          <p:nvPr/>
        </p:nvSpPr>
        <p:spPr>
          <a:xfrm>
            <a:off x="876300" y="2281967"/>
            <a:ext cx="4648200" cy="257175"/>
          </a:xfrm>
          <a:prstGeom prst="rect">
            <a:avLst/>
          </a:prstGeom>
          <a:noFill/>
          <a:ln w="0">
            <a:noFill/>
            <a:prstDash val="solid"/>
          </a:ln>
        </p:spPr>
        <p:txBody>
          <a:bodyPr anchor="ctr"/>
          <a:lstStyle/>
          <a:p>
            <a:pPr algn="l">
              <a:defRPr sz="1350" b="1">
                <a:solidFill>
                  <a:srgbClr val="17202A"/>
                </a:solidFill>
              </a:defRPr>
            </a:pPr>
            <a:r>
              <a:rPr lang="it-IT" sz="1400" b="1" noProof="0" dirty="0">
                <a:solidFill>
                  <a:srgbClr val="0046AD"/>
                </a:solidFill>
              </a:rPr>
              <a:t>Rappresentatività non verificabile</a:t>
            </a:r>
          </a:p>
        </p:txBody>
      </p:sp>
      <p:sp>
        <p:nvSpPr>
          <p:cNvPr id="9" name="Rettangolo 8">
            <a:extLst>
              <a:ext uri="{FF2B5EF4-FFF2-40B4-BE49-F238E27FC236}">
                <a16:creationId xmlns:a16="http://schemas.microsoft.com/office/drawing/2014/main" id="{0C365D3C-E5CA-45AD-ABE6-409E6B844374}"/>
              </a:ext>
            </a:extLst>
          </p:cNvPr>
          <p:cNvSpPr>
            <a:spLocks noGrp="1"/>
          </p:cNvSpPr>
          <p:nvPr/>
        </p:nvSpPr>
        <p:spPr>
          <a:xfrm>
            <a:off x="876300" y="2567717"/>
            <a:ext cx="4648200" cy="90487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Non conosciamo campionamento e tasso di risposta. Inoltre le proporzioni di quanti studenti sono internazionali, quanti dai vari programmi eccetera potrebbero non rappresentare la composizione della popolazione studentesca dell’Università Bocconi. Inoltre nel dataset manca il dato sul genere, che è spesso utile per le analisi.</a:t>
            </a:r>
          </a:p>
        </p:txBody>
      </p:sp>
      <p:sp>
        <p:nvSpPr>
          <p:cNvPr id="10" name="Rettangolo 9">
            <a:extLst>
              <a:ext uri="{FF2B5EF4-FFF2-40B4-BE49-F238E27FC236}">
                <a16:creationId xmlns:a16="http://schemas.microsoft.com/office/drawing/2014/main" id="{1DEA8B81-6431-4EED-B8F1-FBEEBE30D27A}"/>
              </a:ext>
            </a:extLst>
          </p:cNvPr>
          <p:cNvSpPr>
            <a:spLocks noGrp="1"/>
          </p:cNvSpPr>
          <p:nvPr/>
        </p:nvSpPr>
        <p:spPr>
          <a:xfrm>
            <a:off x="666750" y="3838575"/>
            <a:ext cx="66675" cy="66675"/>
          </a:xfrm>
          <a:prstGeom prst="rect">
            <a:avLst/>
          </a:prstGeom>
          <a:solidFill>
            <a:srgbClr val="0046AD"/>
          </a:solidFill>
          <a:ln w="0">
            <a:noFill/>
            <a:prstDash val="solid"/>
          </a:ln>
        </p:spPr>
        <p:txBody>
          <a:bodyPr/>
          <a:lstStyle/>
          <a:p>
            <a:endParaRPr lang="it-IT" noProof="0" dirty="0"/>
          </a:p>
        </p:txBody>
      </p:sp>
      <p:sp>
        <p:nvSpPr>
          <p:cNvPr id="11" name="Rettangolo 10">
            <a:extLst>
              <a:ext uri="{FF2B5EF4-FFF2-40B4-BE49-F238E27FC236}">
                <a16:creationId xmlns:a16="http://schemas.microsoft.com/office/drawing/2014/main" id="{E024A4C7-1A7A-4412-96FB-80CD55511F1A}"/>
              </a:ext>
            </a:extLst>
          </p:cNvPr>
          <p:cNvSpPr>
            <a:spLocks noGrp="1"/>
          </p:cNvSpPr>
          <p:nvPr/>
        </p:nvSpPr>
        <p:spPr>
          <a:xfrm>
            <a:off x="876300" y="3771900"/>
            <a:ext cx="4648200" cy="257175"/>
          </a:xfrm>
          <a:prstGeom prst="rect">
            <a:avLst/>
          </a:prstGeom>
          <a:noFill/>
          <a:ln w="0">
            <a:noFill/>
            <a:prstDash val="solid"/>
          </a:ln>
        </p:spPr>
        <p:txBody>
          <a:bodyPr anchor="ctr"/>
          <a:lstStyle/>
          <a:p>
            <a:pPr algn="l">
              <a:defRPr sz="1350" b="1">
                <a:solidFill>
                  <a:srgbClr val="17202A"/>
                </a:solidFill>
              </a:defRPr>
            </a:pPr>
            <a:r>
              <a:rPr lang="it-IT" sz="1400" b="1" noProof="0" dirty="0">
                <a:solidFill>
                  <a:srgbClr val="0046AD"/>
                </a:solidFill>
              </a:rPr>
              <a:t>La correlazione non implica causalità</a:t>
            </a:r>
          </a:p>
        </p:txBody>
      </p:sp>
      <p:sp>
        <p:nvSpPr>
          <p:cNvPr id="12" name="Rettangolo 11">
            <a:extLst>
              <a:ext uri="{FF2B5EF4-FFF2-40B4-BE49-F238E27FC236}">
                <a16:creationId xmlns:a16="http://schemas.microsoft.com/office/drawing/2014/main" id="{20964D82-CDB3-4CA7-A524-43D940F2BA1F}"/>
              </a:ext>
            </a:extLst>
          </p:cNvPr>
          <p:cNvSpPr>
            <a:spLocks noGrp="1"/>
          </p:cNvSpPr>
          <p:nvPr/>
        </p:nvSpPr>
        <p:spPr>
          <a:xfrm>
            <a:off x="876300" y="4057650"/>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Le correlazioni trovate potrebbero non essere causali, nonostante i dati qualitativi aiutino a capire se le connessioni tra i dati esistano nella realtà.</a:t>
            </a:r>
          </a:p>
        </p:txBody>
      </p:sp>
      <p:sp>
        <p:nvSpPr>
          <p:cNvPr id="13" name="Rettangolo 12">
            <a:extLst>
              <a:ext uri="{FF2B5EF4-FFF2-40B4-BE49-F238E27FC236}">
                <a16:creationId xmlns:a16="http://schemas.microsoft.com/office/drawing/2014/main" id="{599F64C7-7C01-4F53-94F2-1577CC25EE38}"/>
              </a:ext>
            </a:extLst>
          </p:cNvPr>
          <p:cNvSpPr>
            <a:spLocks noGrp="1"/>
          </p:cNvSpPr>
          <p:nvPr/>
        </p:nvSpPr>
        <p:spPr>
          <a:xfrm>
            <a:off x="666750" y="4772025"/>
            <a:ext cx="66675" cy="66675"/>
          </a:xfrm>
          <a:prstGeom prst="rect">
            <a:avLst/>
          </a:prstGeom>
          <a:solidFill>
            <a:srgbClr val="0046AD"/>
          </a:solidFill>
          <a:ln w="0">
            <a:noFill/>
            <a:prstDash val="solid"/>
          </a:ln>
        </p:spPr>
        <p:txBody>
          <a:bodyPr/>
          <a:lstStyle/>
          <a:p>
            <a:endParaRPr lang="it-IT" noProof="0" dirty="0"/>
          </a:p>
        </p:txBody>
      </p:sp>
      <p:sp>
        <p:nvSpPr>
          <p:cNvPr id="14" name="Rettangolo 13">
            <a:extLst>
              <a:ext uri="{FF2B5EF4-FFF2-40B4-BE49-F238E27FC236}">
                <a16:creationId xmlns:a16="http://schemas.microsoft.com/office/drawing/2014/main" id="{3187A62C-8359-4473-8732-3C9ACFB2BAD9}"/>
              </a:ext>
            </a:extLst>
          </p:cNvPr>
          <p:cNvSpPr>
            <a:spLocks noGrp="1"/>
          </p:cNvSpPr>
          <p:nvPr/>
        </p:nvSpPr>
        <p:spPr>
          <a:xfrm>
            <a:off x="876300" y="4705350"/>
            <a:ext cx="4648200" cy="257175"/>
          </a:xfrm>
          <a:prstGeom prst="rect">
            <a:avLst/>
          </a:prstGeom>
          <a:noFill/>
          <a:ln w="0">
            <a:noFill/>
            <a:prstDash val="solid"/>
          </a:ln>
        </p:spPr>
        <p:txBody>
          <a:bodyPr anchor="ctr"/>
          <a:lstStyle/>
          <a:p>
            <a:pPr algn="l">
              <a:defRPr sz="1350" b="1">
                <a:solidFill>
                  <a:srgbClr val="17202A"/>
                </a:solidFill>
              </a:defRPr>
            </a:pPr>
            <a:r>
              <a:rPr lang="it-IT" sz="1400" b="1" noProof="0" dirty="0">
                <a:solidFill>
                  <a:srgbClr val="0046AD"/>
                </a:solidFill>
              </a:rPr>
              <a:t>Esperienze complesse misurate con singole domande</a:t>
            </a:r>
          </a:p>
        </p:txBody>
      </p:sp>
      <p:sp>
        <p:nvSpPr>
          <p:cNvPr id="15" name="Rettangolo 14">
            <a:extLst>
              <a:ext uri="{FF2B5EF4-FFF2-40B4-BE49-F238E27FC236}">
                <a16:creationId xmlns:a16="http://schemas.microsoft.com/office/drawing/2014/main" id="{F619B030-0F8F-488A-BAB5-A595FA5FEB02}"/>
              </a:ext>
            </a:extLst>
          </p:cNvPr>
          <p:cNvSpPr>
            <a:spLocks noGrp="1"/>
          </p:cNvSpPr>
          <p:nvPr/>
        </p:nvSpPr>
        <p:spPr>
          <a:xfrm>
            <a:off x="876300" y="5071333"/>
            <a:ext cx="4648200" cy="46672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Benessere, appartenenza e carico sono sintetizzati in un solo voto da 1 a 10, sarebbe stato più opportuno avere più misure multi-item. Inoltre potrebbero esserci delle variabili non misurate che creano </a:t>
            </a:r>
            <a:r>
              <a:rPr lang="it-IT" sz="1200" b="0" noProof="0" dirty="0" err="1">
                <a:solidFill>
                  <a:srgbClr val="66717F"/>
                </a:solidFill>
              </a:rPr>
              <a:t>bias</a:t>
            </a:r>
            <a:r>
              <a:rPr lang="it-IT" sz="1200" b="0" noProof="0" dirty="0">
                <a:solidFill>
                  <a:srgbClr val="66717F"/>
                </a:solidFill>
              </a:rPr>
              <a:t> nelle analisi.</a:t>
            </a:r>
          </a:p>
        </p:txBody>
      </p:sp>
      <p:sp>
        <p:nvSpPr>
          <p:cNvPr id="16" name="Rettangolo 15">
            <a:extLst>
              <a:ext uri="{FF2B5EF4-FFF2-40B4-BE49-F238E27FC236}">
                <a16:creationId xmlns:a16="http://schemas.microsoft.com/office/drawing/2014/main" id="{4C7F7722-475B-40C4-B344-1E721C555586}"/>
              </a:ext>
            </a:extLst>
          </p:cNvPr>
          <p:cNvSpPr>
            <a:spLocks noGrp="1"/>
          </p:cNvSpPr>
          <p:nvPr/>
        </p:nvSpPr>
        <p:spPr>
          <a:xfrm>
            <a:off x="6191250" y="1809750"/>
            <a:ext cx="19050" cy="3762375"/>
          </a:xfrm>
          <a:prstGeom prst="rect">
            <a:avLst/>
          </a:prstGeom>
          <a:solidFill>
            <a:srgbClr val="D9D5CF"/>
          </a:solidFill>
          <a:ln w="0">
            <a:noFill/>
            <a:prstDash val="solid"/>
          </a:ln>
        </p:spPr>
        <p:txBody>
          <a:bodyPr/>
          <a:lstStyle/>
          <a:p>
            <a:endParaRPr lang="it-IT" noProof="0" dirty="0"/>
          </a:p>
        </p:txBody>
      </p:sp>
      <p:sp>
        <p:nvSpPr>
          <p:cNvPr id="17" name="Rettangolo 16">
            <a:extLst>
              <a:ext uri="{FF2B5EF4-FFF2-40B4-BE49-F238E27FC236}">
                <a16:creationId xmlns:a16="http://schemas.microsoft.com/office/drawing/2014/main" id="{9F01F568-D78B-40E1-BF15-A5889082F198}"/>
              </a:ext>
            </a:extLst>
          </p:cNvPr>
          <p:cNvSpPr>
            <a:spLocks noGrp="1"/>
          </p:cNvSpPr>
          <p:nvPr/>
        </p:nvSpPr>
        <p:spPr>
          <a:xfrm>
            <a:off x="6677891" y="1826227"/>
            <a:ext cx="3437659" cy="285750"/>
          </a:xfrm>
          <a:prstGeom prst="rect">
            <a:avLst/>
          </a:prstGeom>
          <a:noFill/>
          <a:ln w="0">
            <a:noFill/>
            <a:prstDash val="solid"/>
          </a:ln>
        </p:spPr>
        <p:txBody>
          <a:bodyPr anchor="ctr"/>
          <a:lstStyle/>
          <a:p>
            <a:pPr algn="l">
              <a:defRPr sz="1500" b="1">
                <a:solidFill>
                  <a:srgbClr val="B5122B"/>
                </a:solidFill>
              </a:defRPr>
            </a:pPr>
            <a:r>
              <a:rPr lang="it-IT" sz="1500" b="1" noProof="0" dirty="0">
                <a:solidFill>
                  <a:srgbClr val="0046AD"/>
                </a:solidFill>
              </a:rPr>
              <a:t>Analisi qualitativa:</a:t>
            </a:r>
          </a:p>
        </p:txBody>
      </p:sp>
      <p:sp>
        <p:nvSpPr>
          <p:cNvPr id="18" name="Rettangolo 17">
            <a:extLst>
              <a:ext uri="{FF2B5EF4-FFF2-40B4-BE49-F238E27FC236}">
                <a16:creationId xmlns:a16="http://schemas.microsoft.com/office/drawing/2014/main" id="{19565556-7C18-45A4-ABDC-1A38006166AC}"/>
              </a:ext>
            </a:extLst>
          </p:cNvPr>
          <p:cNvSpPr>
            <a:spLocks noGrp="1"/>
          </p:cNvSpPr>
          <p:nvPr/>
        </p:nvSpPr>
        <p:spPr>
          <a:xfrm>
            <a:off x="8620125" y="456796"/>
            <a:ext cx="4048125" cy="742950"/>
          </a:xfrm>
          <a:prstGeom prst="rect">
            <a:avLst/>
          </a:prstGeom>
          <a:noFill/>
          <a:ln w="0">
            <a:noFill/>
            <a:prstDash val="solid"/>
          </a:ln>
        </p:spPr>
        <p:txBody>
          <a:bodyPr anchor="ctr"/>
          <a:lstStyle/>
          <a:p>
            <a:pPr algn="l">
              <a:defRPr sz="2100" b="1">
                <a:solidFill>
                  <a:srgbClr val="10243E"/>
                </a:solidFill>
              </a:defRPr>
            </a:pPr>
            <a:endParaRPr lang="it-IT" sz="2100" b="1" noProof="0" dirty="0">
              <a:solidFill>
                <a:srgbClr val="10243E"/>
              </a:solidFill>
            </a:endParaRPr>
          </a:p>
        </p:txBody>
      </p:sp>
      <p:sp>
        <p:nvSpPr>
          <p:cNvPr id="19" name="Rettangolo 18">
            <a:extLst>
              <a:ext uri="{FF2B5EF4-FFF2-40B4-BE49-F238E27FC236}">
                <a16:creationId xmlns:a16="http://schemas.microsoft.com/office/drawing/2014/main" id="{C1D2E9D7-5D69-49C1-8545-A771910DBE76}"/>
              </a:ext>
            </a:extLst>
          </p:cNvPr>
          <p:cNvSpPr>
            <a:spLocks noGrp="1"/>
          </p:cNvSpPr>
          <p:nvPr/>
        </p:nvSpPr>
        <p:spPr>
          <a:xfrm>
            <a:off x="6781800" y="3276600"/>
            <a:ext cx="4048125" cy="1314450"/>
          </a:xfrm>
          <a:prstGeom prst="rect">
            <a:avLst/>
          </a:prstGeom>
          <a:noFill/>
          <a:ln w="0">
            <a:noFill/>
            <a:prstDash val="solid"/>
          </a:ln>
        </p:spPr>
        <p:txBody>
          <a:bodyPr anchor="ctr"/>
          <a:lstStyle/>
          <a:p>
            <a:pPr algn="l">
              <a:defRPr sz="1350" b="0">
                <a:solidFill>
                  <a:srgbClr val="66717F"/>
                </a:solidFill>
              </a:defRPr>
            </a:pPr>
            <a:endParaRPr lang="it-IT" sz="1350" b="0" noProof="0" dirty="0">
              <a:solidFill>
                <a:srgbClr val="66717F"/>
              </a:solidFill>
            </a:endParaRPr>
          </a:p>
        </p:txBody>
      </p:sp>
      <p:sp>
        <p:nvSpPr>
          <p:cNvPr id="26" name="Rettangolo 25">
            <a:extLst>
              <a:ext uri="{FF2B5EF4-FFF2-40B4-BE49-F238E27FC236}">
                <a16:creationId xmlns:a16="http://schemas.microsoft.com/office/drawing/2014/main" id="{40E6B6BC-751E-192D-EB5F-EB996800EDA4}"/>
              </a:ext>
            </a:extLst>
          </p:cNvPr>
          <p:cNvSpPr>
            <a:spLocks noGrp="1"/>
          </p:cNvSpPr>
          <p:nvPr/>
        </p:nvSpPr>
        <p:spPr>
          <a:xfrm>
            <a:off x="552450" y="533400"/>
            <a:ext cx="10906125" cy="685800"/>
          </a:xfrm>
          <a:prstGeom prst="rect">
            <a:avLst/>
          </a:prstGeom>
          <a:noFill/>
          <a:ln w="0">
            <a:noFill/>
            <a:prstDash val="solid"/>
          </a:ln>
        </p:spPr>
        <p:txBody>
          <a:bodyPr anchor="ctr"/>
          <a:lstStyle/>
          <a:p>
            <a:pPr>
              <a:defRPr sz="2550" b="1">
                <a:solidFill>
                  <a:srgbClr val="10243E"/>
                </a:solidFill>
              </a:defRPr>
            </a:pPr>
            <a:r>
              <a:rPr lang="it-IT" sz="2550" b="1" dirty="0">
                <a:solidFill>
                  <a:srgbClr val="10243E"/>
                </a:solidFill>
              </a:rPr>
              <a:t>Limitazioni della ricerca</a:t>
            </a:r>
          </a:p>
        </p:txBody>
      </p:sp>
      <p:sp>
        <p:nvSpPr>
          <p:cNvPr id="27" name="CasellaDiTesto 26">
            <a:extLst>
              <a:ext uri="{FF2B5EF4-FFF2-40B4-BE49-F238E27FC236}">
                <a16:creationId xmlns:a16="http://schemas.microsoft.com/office/drawing/2014/main" id="{8AE6B4E4-1066-F7A1-0539-A34FB09A7862}"/>
              </a:ext>
            </a:extLst>
          </p:cNvPr>
          <p:cNvSpPr txBox="1"/>
          <p:nvPr/>
        </p:nvSpPr>
        <p:spPr>
          <a:xfrm>
            <a:off x="552450" y="1081413"/>
            <a:ext cx="11344275" cy="307777"/>
          </a:xfrm>
          <a:prstGeom prst="rect">
            <a:avLst/>
          </a:prstGeom>
          <a:noFill/>
        </p:spPr>
        <p:txBody>
          <a:bodyPr wrap="square" rtlCol="0">
            <a:spAutoFit/>
          </a:bodyPr>
          <a:lstStyle/>
          <a:p>
            <a:r>
              <a:rPr lang="it-IT" sz="1400" noProof="0" dirty="0"/>
              <a:t>I dati raccolti contengono alcuni punti deboli che rendono difficile trarre conclusioni più approfondite</a:t>
            </a:r>
          </a:p>
        </p:txBody>
      </p:sp>
      <p:sp>
        <p:nvSpPr>
          <p:cNvPr id="28" name="Rettangolo 27">
            <a:extLst>
              <a:ext uri="{FF2B5EF4-FFF2-40B4-BE49-F238E27FC236}">
                <a16:creationId xmlns:a16="http://schemas.microsoft.com/office/drawing/2014/main" id="{921912AF-3E2F-44FF-BB57-D73FBD0CAEA4}"/>
              </a:ext>
            </a:extLst>
          </p:cNvPr>
          <p:cNvSpPr>
            <a:spLocks noGrp="1"/>
          </p:cNvSpPr>
          <p:nvPr/>
        </p:nvSpPr>
        <p:spPr>
          <a:xfrm>
            <a:off x="552450" y="1826227"/>
            <a:ext cx="3333750" cy="285750"/>
          </a:xfrm>
          <a:prstGeom prst="rect">
            <a:avLst/>
          </a:prstGeom>
          <a:noFill/>
          <a:ln w="0">
            <a:noFill/>
            <a:prstDash val="solid"/>
          </a:ln>
        </p:spPr>
        <p:txBody>
          <a:bodyPr anchor="ctr"/>
          <a:lstStyle/>
          <a:p>
            <a:pPr algn="l">
              <a:defRPr sz="1500" b="1">
                <a:solidFill>
                  <a:srgbClr val="B5122B"/>
                </a:solidFill>
              </a:defRPr>
            </a:pPr>
            <a:r>
              <a:rPr lang="it-IT" sz="1500" b="1" noProof="0" dirty="0">
                <a:solidFill>
                  <a:srgbClr val="0046AD"/>
                </a:solidFill>
              </a:rPr>
              <a:t>Analisi quantitativa:</a:t>
            </a:r>
          </a:p>
        </p:txBody>
      </p:sp>
      <p:sp>
        <p:nvSpPr>
          <p:cNvPr id="29" name="Rettangolo 28">
            <a:extLst>
              <a:ext uri="{FF2B5EF4-FFF2-40B4-BE49-F238E27FC236}">
                <a16:creationId xmlns:a16="http://schemas.microsoft.com/office/drawing/2014/main" id="{CC76B142-1FE7-3B37-890D-868E28226891}"/>
              </a:ext>
            </a:extLst>
          </p:cNvPr>
          <p:cNvSpPr>
            <a:spLocks noGrp="1"/>
          </p:cNvSpPr>
          <p:nvPr/>
        </p:nvSpPr>
        <p:spPr>
          <a:xfrm>
            <a:off x="6781800" y="2353404"/>
            <a:ext cx="66675" cy="66675"/>
          </a:xfrm>
          <a:prstGeom prst="rect">
            <a:avLst/>
          </a:prstGeom>
          <a:solidFill>
            <a:srgbClr val="0046AD"/>
          </a:solidFill>
          <a:ln w="0">
            <a:noFill/>
            <a:prstDash val="solid"/>
          </a:ln>
        </p:spPr>
        <p:txBody>
          <a:bodyPr/>
          <a:lstStyle/>
          <a:p>
            <a:endParaRPr lang="it-IT" noProof="0" dirty="0"/>
          </a:p>
        </p:txBody>
      </p:sp>
      <p:sp>
        <p:nvSpPr>
          <p:cNvPr id="30" name="Rettangolo 29">
            <a:extLst>
              <a:ext uri="{FF2B5EF4-FFF2-40B4-BE49-F238E27FC236}">
                <a16:creationId xmlns:a16="http://schemas.microsoft.com/office/drawing/2014/main" id="{7F0C9692-E864-7611-4C24-4C0999254A0A}"/>
              </a:ext>
            </a:extLst>
          </p:cNvPr>
          <p:cNvSpPr>
            <a:spLocks noGrp="1"/>
          </p:cNvSpPr>
          <p:nvPr/>
        </p:nvSpPr>
        <p:spPr>
          <a:xfrm>
            <a:off x="6991350" y="2286729"/>
            <a:ext cx="4648200" cy="257175"/>
          </a:xfrm>
          <a:prstGeom prst="rect">
            <a:avLst/>
          </a:prstGeom>
          <a:noFill/>
          <a:ln w="0">
            <a:noFill/>
            <a:prstDash val="solid"/>
          </a:ln>
        </p:spPr>
        <p:txBody>
          <a:bodyPr anchor="ctr"/>
          <a:lstStyle/>
          <a:p>
            <a:pPr algn="l">
              <a:defRPr sz="1350" b="1">
                <a:solidFill>
                  <a:srgbClr val="17202A"/>
                </a:solidFill>
              </a:defRPr>
            </a:pPr>
            <a:r>
              <a:rPr lang="it-IT" sz="1400" b="1" noProof="0" dirty="0">
                <a:solidFill>
                  <a:srgbClr val="0046AD"/>
                </a:solidFill>
              </a:rPr>
              <a:t>Molte risposte aperte sono identiche o molto brevi</a:t>
            </a:r>
          </a:p>
        </p:txBody>
      </p:sp>
      <p:sp>
        <p:nvSpPr>
          <p:cNvPr id="31" name="Rettangolo 30">
            <a:extLst>
              <a:ext uri="{FF2B5EF4-FFF2-40B4-BE49-F238E27FC236}">
                <a16:creationId xmlns:a16="http://schemas.microsoft.com/office/drawing/2014/main" id="{BA143CE9-F90A-B5FD-AAB6-E02A43998487}"/>
              </a:ext>
            </a:extLst>
          </p:cNvPr>
          <p:cNvSpPr>
            <a:spLocks noGrp="1"/>
          </p:cNvSpPr>
          <p:nvPr/>
        </p:nvSpPr>
        <p:spPr>
          <a:xfrm>
            <a:off x="6991350" y="2383996"/>
            <a:ext cx="4648200" cy="904875"/>
          </a:xfrm>
          <a:prstGeom prst="rect">
            <a:avLst/>
          </a:prstGeom>
          <a:noFill/>
          <a:ln w="0">
            <a:noFill/>
            <a:prstDash val="solid"/>
          </a:ln>
        </p:spPr>
        <p:txBody>
          <a:bodyPr anchor="ctr"/>
          <a:lstStyle/>
          <a:p>
            <a:pPr algn="l">
              <a:defRPr sz="1200" b="0">
                <a:solidFill>
                  <a:srgbClr val="66717F"/>
                </a:solidFill>
              </a:defRPr>
            </a:pPr>
            <a:r>
              <a:rPr lang="it-IT" sz="1200" b="0" noProof="0" dirty="0">
                <a:solidFill>
                  <a:srgbClr val="66717F"/>
                </a:solidFill>
              </a:rPr>
              <a:t>Frasi ripetute fino a oltre 30 volte e ambiguità semantiche rendono difficile estrarre degli insight comparabili con quelli di vere ricerche qualitative.</a:t>
            </a:r>
          </a:p>
        </p:txBody>
      </p:sp>
    </p:spTree>
    <p:extLst>
      <p:ext uri="{BB962C8B-B14F-4D97-AF65-F5344CB8AC3E}">
        <p14:creationId xmlns:p14="http://schemas.microsoft.com/office/powerpoint/2010/main" val="6342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6AD"/>
        </a:solidFill>
        <a:effectLst/>
      </p:bgPr>
    </p:bg>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B7AF735C-1B69-44F2-BADC-FB598493000A}"/>
              </a:ext>
            </a:extLst>
          </p:cNvPr>
          <p:cNvSpPr>
            <a:spLocks noGrp="1"/>
          </p:cNvSpPr>
          <p:nvPr/>
        </p:nvSpPr>
        <p:spPr>
          <a:xfrm>
            <a:off x="0" y="0"/>
            <a:ext cx="171450" cy="6858000"/>
          </a:xfrm>
          <a:prstGeom prst="rect">
            <a:avLst/>
          </a:prstGeom>
          <a:solidFill>
            <a:schemeClr val="bg1"/>
          </a:solidFill>
          <a:ln w="0">
            <a:noFill/>
            <a:prstDash val="solid"/>
          </a:ln>
        </p:spPr>
        <p:txBody>
          <a:bodyPr/>
          <a:lstStyle/>
          <a:p>
            <a:endParaRPr lang="it-IT" noProof="0" dirty="0"/>
          </a:p>
        </p:txBody>
      </p:sp>
      <p:sp>
        <p:nvSpPr>
          <p:cNvPr id="2" name="Rettangolo 1">
            <a:extLst>
              <a:ext uri="{FF2B5EF4-FFF2-40B4-BE49-F238E27FC236}">
                <a16:creationId xmlns:a16="http://schemas.microsoft.com/office/drawing/2014/main" id="{458724F7-EF2B-43BB-A51F-D3E4692AFA5E}"/>
              </a:ext>
            </a:extLst>
          </p:cNvPr>
          <p:cNvSpPr>
            <a:spLocks noGrp="1"/>
          </p:cNvSpPr>
          <p:nvPr/>
        </p:nvSpPr>
        <p:spPr>
          <a:xfrm>
            <a:off x="742950" y="781050"/>
            <a:ext cx="2857500" cy="247650"/>
          </a:xfrm>
          <a:prstGeom prst="rect">
            <a:avLst/>
          </a:prstGeom>
          <a:noFill/>
          <a:ln w="0">
            <a:noFill/>
            <a:prstDash val="solid"/>
          </a:ln>
        </p:spPr>
        <p:txBody>
          <a:bodyPr anchor="ctr"/>
          <a:lstStyle/>
          <a:p>
            <a:pPr algn="l">
              <a:defRPr sz="1050" b="1">
                <a:solidFill>
                  <a:srgbClr val="F0B7C0"/>
                </a:solidFill>
              </a:defRPr>
            </a:pPr>
            <a:r>
              <a:rPr lang="it-IT" sz="1100" b="1" noProof="0" dirty="0">
                <a:solidFill>
                  <a:schemeClr val="bg1"/>
                </a:solidFill>
              </a:rPr>
              <a:t>CONCLUSIONE</a:t>
            </a:r>
          </a:p>
        </p:txBody>
      </p:sp>
      <p:sp>
        <p:nvSpPr>
          <p:cNvPr id="3" name="Rettangolo 2">
            <a:extLst>
              <a:ext uri="{FF2B5EF4-FFF2-40B4-BE49-F238E27FC236}">
                <a16:creationId xmlns:a16="http://schemas.microsoft.com/office/drawing/2014/main" id="{AEA76546-D7B9-41FC-B88B-AB62380AFE6E}"/>
              </a:ext>
            </a:extLst>
          </p:cNvPr>
          <p:cNvSpPr>
            <a:spLocks noGrp="1"/>
          </p:cNvSpPr>
          <p:nvPr/>
        </p:nvSpPr>
        <p:spPr>
          <a:xfrm>
            <a:off x="742950" y="1257300"/>
            <a:ext cx="8953500" cy="628650"/>
          </a:xfrm>
          <a:prstGeom prst="rect">
            <a:avLst/>
          </a:prstGeom>
          <a:noFill/>
          <a:ln w="0">
            <a:noFill/>
            <a:prstDash val="solid"/>
          </a:ln>
        </p:spPr>
        <p:txBody>
          <a:bodyPr anchor="ctr"/>
          <a:lstStyle/>
          <a:p>
            <a:pPr algn="l">
              <a:defRPr sz="3300" b="1">
                <a:solidFill>
                  <a:srgbClr val="FFFFFF"/>
                </a:solidFill>
              </a:defRPr>
            </a:pPr>
            <a:r>
              <a:rPr lang="it-IT" sz="3300" b="1" noProof="0" dirty="0">
                <a:solidFill>
                  <a:srgbClr val="FFFFFF"/>
                </a:solidFill>
              </a:rPr>
              <a:t>Tre priorità da approfondire</a:t>
            </a:r>
          </a:p>
        </p:txBody>
      </p:sp>
      <p:sp>
        <p:nvSpPr>
          <p:cNvPr id="4" name="Rettangolo 3">
            <a:extLst>
              <a:ext uri="{FF2B5EF4-FFF2-40B4-BE49-F238E27FC236}">
                <a16:creationId xmlns:a16="http://schemas.microsoft.com/office/drawing/2014/main" id="{62AC36EA-880C-492C-8AC2-C25A266BF218}"/>
              </a:ext>
            </a:extLst>
          </p:cNvPr>
          <p:cNvSpPr>
            <a:spLocks noGrp="1"/>
          </p:cNvSpPr>
          <p:nvPr/>
        </p:nvSpPr>
        <p:spPr>
          <a:xfrm>
            <a:off x="762000" y="2381250"/>
            <a:ext cx="552450" cy="304800"/>
          </a:xfrm>
          <a:prstGeom prst="rect">
            <a:avLst/>
          </a:prstGeom>
          <a:noFill/>
          <a:ln w="0">
            <a:noFill/>
            <a:prstDash val="solid"/>
          </a:ln>
        </p:spPr>
        <p:txBody>
          <a:bodyPr anchor="ctr"/>
          <a:lstStyle/>
          <a:p>
            <a:pPr algn="l">
              <a:defRPr sz="1200" b="1">
                <a:solidFill>
                  <a:srgbClr val="F0B7C0"/>
                </a:solidFill>
              </a:defRPr>
            </a:pPr>
            <a:r>
              <a:rPr lang="it-IT" sz="1200" b="1" noProof="0" dirty="0">
                <a:solidFill>
                  <a:schemeClr val="bg1"/>
                </a:solidFill>
              </a:rPr>
              <a:t>01</a:t>
            </a:r>
          </a:p>
        </p:txBody>
      </p:sp>
      <p:sp>
        <p:nvSpPr>
          <p:cNvPr id="5" name="Rettangolo 4">
            <a:extLst>
              <a:ext uri="{FF2B5EF4-FFF2-40B4-BE49-F238E27FC236}">
                <a16:creationId xmlns:a16="http://schemas.microsoft.com/office/drawing/2014/main" id="{272B2FA8-36D3-4A61-BADB-A803E4AEF550}"/>
              </a:ext>
            </a:extLst>
          </p:cNvPr>
          <p:cNvSpPr>
            <a:spLocks noGrp="1"/>
          </p:cNvSpPr>
          <p:nvPr/>
        </p:nvSpPr>
        <p:spPr>
          <a:xfrm>
            <a:off x="1476375" y="2343150"/>
            <a:ext cx="3143250" cy="361950"/>
          </a:xfrm>
          <a:prstGeom prst="rect">
            <a:avLst/>
          </a:prstGeom>
          <a:noFill/>
          <a:ln w="0">
            <a:noFill/>
            <a:prstDash val="solid"/>
          </a:ln>
        </p:spPr>
        <p:txBody>
          <a:bodyPr anchor="ctr"/>
          <a:lstStyle/>
          <a:p>
            <a:pPr algn="l">
              <a:defRPr sz="1650" b="1">
                <a:solidFill>
                  <a:srgbClr val="FFFFFF"/>
                </a:solidFill>
              </a:defRPr>
            </a:pPr>
            <a:r>
              <a:rPr lang="it-IT" b="1" noProof="0" dirty="0">
                <a:solidFill>
                  <a:srgbClr val="FFFFFF"/>
                </a:solidFill>
              </a:rPr>
              <a:t>Pressione economica</a:t>
            </a:r>
          </a:p>
        </p:txBody>
      </p:sp>
      <p:sp>
        <p:nvSpPr>
          <p:cNvPr id="6" name="Rettangolo 5">
            <a:extLst>
              <a:ext uri="{FF2B5EF4-FFF2-40B4-BE49-F238E27FC236}">
                <a16:creationId xmlns:a16="http://schemas.microsoft.com/office/drawing/2014/main" id="{21E3895E-B1B3-48FA-9CEF-46ECD3816FC0}"/>
              </a:ext>
            </a:extLst>
          </p:cNvPr>
          <p:cNvSpPr>
            <a:spLocks noGrp="1"/>
          </p:cNvSpPr>
          <p:nvPr/>
        </p:nvSpPr>
        <p:spPr>
          <a:xfrm>
            <a:off x="4762500" y="2305050"/>
            <a:ext cx="5810250" cy="438150"/>
          </a:xfrm>
          <a:prstGeom prst="rect">
            <a:avLst/>
          </a:prstGeom>
          <a:noFill/>
          <a:ln w="0">
            <a:noFill/>
            <a:prstDash val="solid"/>
          </a:ln>
        </p:spPr>
        <p:txBody>
          <a:bodyPr anchor="ctr"/>
          <a:lstStyle/>
          <a:p>
            <a:pPr algn="l">
              <a:defRPr sz="1275" b="0">
                <a:solidFill>
                  <a:srgbClr val="CBD4DE"/>
                </a:solidFill>
              </a:defRPr>
            </a:pPr>
            <a:r>
              <a:rPr lang="it-IT" sz="1275" b="0" noProof="0" dirty="0">
                <a:solidFill>
                  <a:srgbClr val="CBD4DE"/>
                </a:solidFill>
              </a:rPr>
              <a:t>Cercare </a:t>
            </a:r>
            <a:r>
              <a:rPr lang="it-IT" sz="1200" b="0" noProof="0" dirty="0">
                <a:solidFill>
                  <a:srgbClr val="CBD4DE"/>
                </a:solidFill>
              </a:rPr>
              <a:t>di</a:t>
            </a:r>
            <a:r>
              <a:rPr lang="it-IT" sz="1275" b="0" noProof="0" dirty="0">
                <a:solidFill>
                  <a:srgbClr val="CBD4DE"/>
                </a:solidFill>
              </a:rPr>
              <a:t> intervenire sull’ansia riguardo la spesa </a:t>
            </a:r>
            <a:r>
              <a:rPr lang="it-IT" sz="1275" dirty="0">
                <a:solidFill>
                  <a:srgbClr val="CBD4DE"/>
                </a:solidFill>
              </a:rPr>
              <a:t>economica per migliorare il benessere degli studenti</a:t>
            </a:r>
            <a:endParaRPr lang="it-IT" sz="1275" b="0" noProof="0" dirty="0">
              <a:solidFill>
                <a:srgbClr val="CBD4DE"/>
              </a:solidFill>
            </a:endParaRPr>
          </a:p>
        </p:txBody>
      </p:sp>
      <p:sp>
        <p:nvSpPr>
          <p:cNvPr id="7" name="Rettangolo 6">
            <a:extLst>
              <a:ext uri="{FF2B5EF4-FFF2-40B4-BE49-F238E27FC236}">
                <a16:creationId xmlns:a16="http://schemas.microsoft.com/office/drawing/2014/main" id="{F5A8023A-0697-41C6-AC36-13EB741C319D}"/>
              </a:ext>
            </a:extLst>
          </p:cNvPr>
          <p:cNvSpPr>
            <a:spLocks noGrp="1"/>
          </p:cNvSpPr>
          <p:nvPr/>
        </p:nvSpPr>
        <p:spPr>
          <a:xfrm>
            <a:off x="1476375" y="2962275"/>
            <a:ext cx="9096375" cy="9525"/>
          </a:xfrm>
          <a:prstGeom prst="rect">
            <a:avLst/>
          </a:prstGeom>
          <a:solidFill>
            <a:srgbClr val="52647A"/>
          </a:solidFill>
          <a:ln w="0">
            <a:noFill/>
            <a:prstDash val="solid"/>
          </a:ln>
        </p:spPr>
        <p:txBody>
          <a:bodyPr/>
          <a:lstStyle/>
          <a:p>
            <a:endParaRPr lang="it-IT" noProof="0" dirty="0"/>
          </a:p>
        </p:txBody>
      </p:sp>
      <p:sp>
        <p:nvSpPr>
          <p:cNvPr id="8" name="Rettangolo 7">
            <a:extLst>
              <a:ext uri="{FF2B5EF4-FFF2-40B4-BE49-F238E27FC236}">
                <a16:creationId xmlns:a16="http://schemas.microsoft.com/office/drawing/2014/main" id="{7C6B5A4E-D277-4A94-A727-48BC269EC1B8}"/>
              </a:ext>
            </a:extLst>
          </p:cNvPr>
          <p:cNvSpPr>
            <a:spLocks noGrp="1"/>
          </p:cNvSpPr>
          <p:nvPr/>
        </p:nvSpPr>
        <p:spPr>
          <a:xfrm>
            <a:off x="762000" y="3362325"/>
            <a:ext cx="552450" cy="304800"/>
          </a:xfrm>
          <a:prstGeom prst="rect">
            <a:avLst/>
          </a:prstGeom>
          <a:noFill/>
          <a:ln w="0">
            <a:noFill/>
            <a:prstDash val="solid"/>
          </a:ln>
        </p:spPr>
        <p:txBody>
          <a:bodyPr anchor="ctr"/>
          <a:lstStyle/>
          <a:p>
            <a:pPr algn="l">
              <a:defRPr sz="1200" b="1">
                <a:solidFill>
                  <a:srgbClr val="F0B7C0"/>
                </a:solidFill>
              </a:defRPr>
            </a:pPr>
            <a:r>
              <a:rPr lang="it-IT" sz="1200" b="1" noProof="0" dirty="0">
                <a:solidFill>
                  <a:schemeClr val="bg1"/>
                </a:solidFill>
              </a:rPr>
              <a:t>02</a:t>
            </a:r>
          </a:p>
        </p:txBody>
      </p:sp>
      <p:sp>
        <p:nvSpPr>
          <p:cNvPr id="9" name="Rettangolo 8">
            <a:extLst>
              <a:ext uri="{FF2B5EF4-FFF2-40B4-BE49-F238E27FC236}">
                <a16:creationId xmlns:a16="http://schemas.microsoft.com/office/drawing/2014/main" id="{D2EEA829-AD8A-47EB-A984-36900F4241E2}"/>
              </a:ext>
            </a:extLst>
          </p:cNvPr>
          <p:cNvSpPr>
            <a:spLocks noGrp="1"/>
          </p:cNvSpPr>
          <p:nvPr/>
        </p:nvSpPr>
        <p:spPr>
          <a:xfrm>
            <a:off x="1476375" y="3333750"/>
            <a:ext cx="3143250" cy="361950"/>
          </a:xfrm>
          <a:prstGeom prst="rect">
            <a:avLst/>
          </a:prstGeom>
          <a:noFill/>
          <a:ln w="0">
            <a:noFill/>
            <a:prstDash val="solid"/>
          </a:ln>
        </p:spPr>
        <p:txBody>
          <a:bodyPr anchor="ctr"/>
          <a:lstStyle/>
          <a:p>
            <a:pPr algn="l">
              <a:defRPr sz="1650" b="1">
                <a:solidFill>
                  <a:srgbClr val="FFFFFF"/>
                </a:solidFill>
              </a:defRPr>
            </a:pPr>
            <a:r>
              <a:rPr lang="it-IT" b="1" noProof="0" dirty="0">
                <a:solidFill>
                  <a:srgbClr val="FFFFFF"/>
                </a:solidFill>
              </a:rPr>
              <a:t>Accesso alla vita di campus</a:t>
            </a:r>
          </a:p>
        </p:txBody>
      </p:sp>
      <p:sp>
        <p:nvSpPr>
          <p:cNvPr id="10" name="Rettangolo 9">
            <a:extLst>
              <a:ext uri="{FF2B5EF4-FFF2-40B4-BE49-F238E27FC236}">
                <a16:creationId xmlns:a16="http://schemas.microsoft.com/office/drawing/2014/main" id="{420ECDFD-307F-46AB-A090-B1772816AEF6}"/>
              </a:ext>
            </a:extLst>
          </p:cNvPr>
          <p:cNvSpPr>
            <a:spLocks noGrp="1"/>
          </p:cNvSpPr>
          <p:nvPr/>
        </p:nvSpPr>
        <p:spPr>
          <a:xfrm>
            <a:off x="4762500" y="3281362"/>
            <a:ext cx="5810250" cy="438150"/>
          </a:xfrm>
          <a:prstGeom prst="rect">
            <a:avLst/>
          </a:prstGeom>
          <a:noFill/>
          <a:ln w="0">
            <a:noFill/>
            <a:prstDash val="solid"/>
          </a:ln>
        </p:spPr>
        <p:txBody>
          <a:bodyPr anchor="ctr"/>
          <a:lstStyle/>
          <a:p>
            <a:pPr algn="l">
              <a:defRPr sz="1275" b="0">
                <a:solidFill>
                  <a:srgbClr val="CBD4DE"/>
                </a:solidFill>
              </a:defRPr>
            </a:pPr>
            <a:r>
              <a:rPr lang="it-IT" sz="1200" b="0" noProof="0" dirty="0">
                <a:solidFill>
                  <a:srgbClr val="CBD4DE"/>
                </a:solidFill>
              </a:rPr>
              <a:t>Ridurre la frizione generata da pendolarismo e orari frammentati.</a:t>
            </a:r>
          </a:p>
        </p:txBody>
      </p:sp>
      <p:sp>
        <p:nvSpPr>
          <p:cNvPr id="11" name="Rettangolo 10">
            <a:extLst>
              <a:ext uri="{FF2B5EF4-FFF2-40B4-BE49-F238E27FC236}">
                <a16:creationId xmlns:a16="http://schemas.microsoft.com/office/drawing/2014/main" id="{AA51546E-9391-419D-AB96-197D39D32982}"/>
              </a:ext>
            </a:extLst>
          </p:cNvPr>
          <p:cNvSpPr>
            <a:spLocks noGrp="1"/>
          </p:cNvSpPr>
          <p:nvPr/>
        </p:nvSpPr>
        <p:spPr>
          <a:xfrm>
            <a:off x="1476375" y="4029075"/>
            <a:ext cx="9096375" cy="9525"/>
          </a:xfrm>
          <a:prstGeom prst="rect">
            <a:avLst/>
          </a:prstGeom>
          <a:solidFill>
            <a:srgbClr val="52647A"/>
          </a:solidFill>
          <a:ln w="0">
            <a:noFill/>
            <a:prstDash val="solid"/>
          </a:ln>
        </p:spPr>
        <p:txBody>
          <a:bodyPr/>
          <a:lstStyle/>
          <a:p>
            <a:endParaRPr lang="it-IT" noProof="0" dirty="0"/>
          </a:p>
        </p:txBody>
      </p:sp>
      <p:sp>
        <p:nvSpPr>
          <p:cNvPr id="12" name="Rettangolo 11">
            <a:extLst>
              <a:ext uri="{FF2B5EF4-FFF2-40B4-BE49-F238E27FC236}">
                <a16:creationId xmlns:a16="http://schemas.microsoft.com/office/drawing/2014/main" id="{DA5F9B98-90A5-4BAF-911E-283BD806733B}"/>
              </a:ext>
            </a:extLst>
          </p:cNvPr>
          <p:cNvSpPr>
            <a:spLocks noGrp="1"/>
          </p:cNvSpPr>
          <p:nvPr/>
        </p:nvSpPr>
        <p:spPr>
          <a:xfrm>
            <a:off x="762000" y="4425950"/>
            <a:ext cx="552450" cy="304800"/>
          </a:xfrm>
          <a:prstGeom prst="rect">
            <a:avLst/>
          </a:prstGeom>
          <a:noFill/>
          <a:ln w="0">
            <a:noFill/>
            <a:prstDash val="solid"/>
          </a:ln>
        </p:spPr>
        <p:txBody>
          <a:bodyPr anchor="ctr"/>
          <a:lstStyle/>
          <a:p>
            <a:pPr algn="l">
              <a:defRPr sz="1200" b="1">
                <a:solidFill>
                  <a:srgbClr val="F0B7C0"/>
                </a:solidFill>
              </a:defRPr>
            </a:pPr>
            <a:r>
              <a:rPr lang="it-IT" sz="1200" b="1" noProof="0" dirty="0">
                <a:solidFill>
                  <a:schemeClr val="bg1"/>
                </a:solidFill>
              </a:rPr>
              <a:t>03</a:t>
            </a:r>
          </a:p>
        </p:txBody>
      </p:sp>
      <p:sp>
        <p:nvSpPr>
          <p:cNvPr id="13" name="Rettangolo 12">
            <a:extLst>
              <a:ext uri="{FF2B5EF4-FFF2-40B4-BE49-F238E27FC236}">
                <a16:creationId xmlns:a16="http://schemas.microsoft.com/office/drawing/2014/main" id="{916D1878-BC01-461F-92AD-C789B4A12A90}"/>
              </a:ext>
            </a:extLst>
          </p:cNvPr>
          <p:cNvSpPr>
            <a:spLocks noGrp="1"/>
          </p:cNvSpPr>
          <p:nvPr/>
        </p:nvSpPr>
        <p:spPr>
          <a:xfrm>
            <a:off x="1476375" y="4397375"/>
            <a:ext cx="3143250" cy="361950"/>
          </a:xfrm>
          <a:prstGeom prst="rect">
            <a:avLst/>
          </a:prstGeom>
          <a:noFill/>
          <a:ln w="0">
            <a:noFill/>
            <a:prstDash val="solid"/>
          </a:ln>
        </p:spPr>
        <p:txBody>
          <a:bodyPr anchor="ctr"/>
          <a:lstStyle/>
          <a:p>
            <a:pPr algn="l">
              <a:defRPr sz="1650" b="1">
                <a:solidFill>
                  <a:srgbClr val="FFFFFF"/>
                </a:solidFill>
              </a:defRPr>
            </a:pPr>
            <a:r>
              <a:rPr lang="it-IT" b="1" noProof="0" dirty="0">
                <a:solidFill>
                  <a:srgbClr val="FFFFFF"/>
                </a:solidFill>
              </a:rPr>
              <a:t>Integrazione sociale</a:t>
            </a:r>
          </a:p>
        </p:txBody>
      </p:sp>
      <p:sp>
        <p:nvSpPr>
          <p:cNvPr id="14" name="Rettangolo 13">
            <a:extLst>
              <a:ext uri="{FF2B5EF4-FFF2-40B4-BE49-F238E27FC236}">
                <a16:creationId xmlns:a16="http://schemas.microsoft.com/office/drawing/2014/main" id="{ECF40D2D-8470-4D1F-A0FF-8F9654CB15EC}"/>
              </a:ext>
            </a:extLst>
          </p:cNvPr>
          <p:cNvSpPr>
            <a:spLocks noGrp="1"/>
          </p:cNvSpPr>
          <p:nvPr/>
        </p:nvSpPr>
        <p:spPr>
          <a:xfrm>
            <a:off x="4762500" y="4362450"/>
            <a:ext cx="5810250" cy="438150"/>
          </a:xfrm>
          <a:prstGeom prst="rect">
            <a:avLst/>
          </a:prstGeom>
          <a:noFill/>
          <a:ln w="0">
            <a:noFill/>
            <a:prstDash val="solid"/>
          </a:ln>
        </p:spPr>
        <p:txBody>
          <a:bodyPr anchor="ctr"/>
          <a:lstStyle/>
          <a:p>
            <a:pPr algn="l">
              <a:defRPr sz="1275" b="0">
                <a:solidFill>
                  <a:srgbClr val="CBD4DE"/>
                </a:solidFill>
              </a:defRPr>
            </a:pPr>
            <a:r>
              <a:rPr lang="it-IT" sz="1200" b="0" noProof="0" dirty="0">
                <a:solidFill>
                  <a:srgbClr val="CBD4DE"/>
                </a:solidFill>
              </a:rPr>
              <a:t>Rafforzare relazioni continuative, soprattutto per gli internazionali.</a:t>
            </a:r>
          </a:p>
        </p:txBody>
      </p:sp>
      <p:sp>
        <p:nvSpPr>
          <p:cNvPr id="15" name="Rettangolo 14">
            <a:extLst>
              <a:ext uri="{FF2B5EF4-FFF2-40B4-BE49-F238E27FC236}">
                <a16:creationId xmlns:a16="http://schemas.microsoft.com/office/drawing/2014/main" id="{56AB8154-1060-475F-8B6E-4223B879424B}"/>
              </a:ext>
            </a:extLst>
          </p:cNvPr>
          <p:cNvSpPr>
            <a:spLocks noGrp="1"/>
          </p:cNvSpPr>
          <p:nvPr/>
        </p:nvSpPr>
        <p:spPr>
          <a:xfrm>
            <a:off x="762000" y="5962650"/>
            <a:ext cx="2095500" cy="381000"/>
          </a:xfrm>
          <a:prstGeom prst="rect">
            <a:avLst/>
          </a:prstGeom>
          <a:noFill/>
          <a:ln w="0">
            <a:noFill/>
            <a:prstDash val="solid"/>
          </a:ln>
        </p:spPr>
        <p:txBody>
          <a:bodyPr anchor="ctr"/>
          <a:lstStyle/>
          <a:p>
            <a:pPr algn="l">
              <a:defRPr sz="1800" b="1">
                <a:solidFill>
                  <a:srgbClr val="FFFFFF"/>
                </a:solidFill>
              </a:defRPr>
            </a:pPr>
            <a:r>
              <a:rPr lang="it-IT" sz="1800" b="1" noProof="0" dirty="0">
                <a:solidFill>
                  <a:srgbClr val="FFFFFF"/>
                </a:solidFill>
              </a:rPr>
              <a:t>Grazie</a:t>
            </a:r>
          </a:p>
        </p:txBody>
      </p:sp>
    </p:spTree>
    <p:extLst>
      <p:ext uri="{BB962C8B-B14F-4D97-AF65-F5344CB8AC3E}">
        <p14:creationId xmlns:p14="http://schemas.microsoft.com/office/powerpoint/2010/main" val="5026501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1028</Words>
  <Application>Microsoft Office PowerPoint</Application>
  <DocSecurity>0</DocSecurity>
  <PresentationFormat>Widescreen</PresentationFormat>
  <Paragraphs>135</Paragraphs>
  <Slides>7</Slides>
  <Notes>7</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7</vt:i4>
      </vt:variant>
    </vt:vector>
  </HeadingPairs>
  <TitlesOfParts>
    <vt:vector size="10" baseType="lpstr">
      <vt:lpstr>Arial</vt:lpstr>
      <vt:lpstr>Calibri</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Savarese, Giacomo</cp:lastModifiedBy>
  <cp:revision>4</cp:revision>
  <dcterms:created xsi:type="dcterms:W3CDTF">2026-07-13T18:20:49Z</dcterms:created>
  <dcterms:modified xsi:type="dcterms:W3CDTF">2026-07-13T20:38:12Z</dcterms:modified>
</cp:coreProperties>
</file>